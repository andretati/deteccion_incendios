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131e339b-3dd0-2d3a-9cf6-005c409bf50e}">
          <p14:sldIdLst>
            <p14:sldId id="256"/>
            <p14:sldId id="257"/>
            <p14:sldId id="258"/>
            <p14:sldId id="259"/>
            <p14:sldId id="260"/>
            <p14:sldId id="261"/>
          </p14:sldIdLst>
        </p14:section>
        <p14:section name="Resultados" id="{575fc67c-646b-6b5b-f750-7453b7df8b14}">
          <p14:sldIdLst>
            <p14:sldId id="262"/>
            <p14:sldId id="263"/>
            <p14:sldId id="264"/>
            <p14:sldId id="265"/>
            <p14:sldId id="266"/>
            <p14:sldId id="267"/>
            <p14:sldId id="268"/>
          </p14:sldIdLst>
        </p14:section>
        <p14:section name="Planificado" id="{864936aa-729a-b89e-99be-a8a1e392aceb}">
          <p14:sldIdLst>
            <p14:sldId id="269"/>
            <p14:sldId id="270"/>
            <p14:sldId id="271"/>
            <p14:sldId id="272"/>
            <p14:sldId id="273"/>
          </p14:sldIdLst>
        </p14:section>
        <p14:section name="Cierre" id="{53318410-334d-b892-7ca7-7b877cb0886b}">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44403C"/>
                </a:solidFill>
                <a:latin typeface="+mn-lt"/>
              </a:defRPr>
            </a:pPr>
            <a:r>
              <a:rPr sz="1400" b="0" i="0" u="none" strike="noStrike">
                <a:solidFill>
                  <a:srgbClr val="44403C"/>
                </a:solidFill>
                <a:latin typeface="+mn-lt"/>
              </a:rPr>
              <a:t>Cajas «small» de COCO (&lt; 32² px) tras el letterbox</a:t>
            </a:r>
          </a:p>
        </c:rich>
      </c:tx>
      <c:layout/>
      <c:overlay val="0"/>
    </c:title>
    <c:autoTitleDeleted val="0"/>
    <c:plotArea>
      <c:layout/>
      <c:barChart>
        <c:barDir val="col"/>
        <c:grouping val="clustered"/>
        <c:varyColors val="0"/>
        <c:ser>
          <c:idx val="0"/>
          <c:order val="0"/>
          <c:tx>
            <c:strRef>
              <c:f>Sheet1!$B$1</c:f>
              <c:strCache>
                <c:ptCount val="1"/>
                <c:pt idx="0">
                  <c:v>640 px</c:v>
                </c:pt>
              </c:strCache>
            </c:strRef>
          </c:tx>
          <c:spPr>
            <a:solidFill>
              <a:srgbClr val="E8590C"/>
            </a:solidFill>
            <a:effectLst/>
          </c:spPr>
          <c:invertIfNegative val="0"/>
          <c:dLbls>
            <c:numFmt formatCode="0.0&quot; %&quot;" sourceLinked="0"/>
            <c:txPr>
              <a:bodyPr/>
              <a:lstStyle/>
              <a:p>
                <a:pPr>
                  <a:defRPr b="0" i="0" strike="noStrike" sz="1200" u="none">
                    <a:solidFill>
                      <a:srgbClr val="44403C"/>
                    </a:solidFill>
                    <a:latin typeface="+mn-lt"/>
                  </a:defRPr>
                </a:pPr>
              </a:p>
            </c:txPr>
            <c:showLegendKey val="0"/>
            <c:showVal val="1"/>
            <c:showCatName val="0"/>
            <c:showSerName val="0"/>
            <c:showPercent val="0"/>
            <c:showBubbleSize val="0"/>
            <c:showLeaderLines val="0"/>
          </c:dLbls>
          <c:cat>
            <c:multiLvlStrRef>
              <c:f>Sheet1!$A$2:$A$3</c:f>
              <c:multiLvlStrCache>
                <c:ptCount val="2"/>
                <c:lvl>
                  <c:pt idx="0">
                    <c:v>Fuego</c:v>
                  </c:pt>
                  <c:pt idx="1">
                    <c:v>Humo</c:v>
                  </c:pt>
                </c:lvl>
              </c:multiLvlStrCache>
            </c:multiLvlStrRef>
          </c:cat>
          <c:val>
            <c:numRef>
              <c:f>Sheet1!$B$2:$B$3</c:f>
              <c:numCache>
                <c:formatCode>General</c:formatCode>
                <c:ptCount val="2"/>
                <c:pt idx="0">
                  <c:v>45</c:v>
                </c:pt>
                <c:pt idx="1">
                  <c:v>12.2</c:v>
                </c:pt>
              </c:numCache>
            </c:numRef>
          </c:val>
        </c:ser>
        <c:ser>
          <c:idx val="1"/>
          <c:order val="1"/>
          <c:tx>
            <c:strRef>
              <c:f>Sheet1!$C$1</c:f>
              <c:strCache>
                <c:ptCount val="1"/>
                <c:pt idx="0">
                  <c:v>960 px</c:v>
                </c:pt>
              </c:strCache>
            </c:strRef>
          </c:tx>
          <c:spPr>
            <a:solidFill>
              <a:srgbClr val="F4A261"/>
            </a:solidFill>
            <a:effectLst/>
          </c:spPr>
          <c:invertIfNegative val="0"/>
          <c:dLbls>
            <c:numFmt formatCode="0.0&quot; %&quot;" sourceLinked="0"/>
            <c:txPr>
              <a:bodyPr/>
              <a:lstStyle/>
              <a:p>
                <a:pPr>
                  <a:defRPr b="0" i="0" strike="noStrike" sz="1200" u="none">
                    <a:solidFill>
                      <a:srgbClr val="44403C"/>
                    </a:solidFill>
                    <a:latin typeface="+mn-lt"/>
                  </a:defRPr>
                </a:pPr>
              </a:p>
            </c:txPr>
            <c:showLegendKey val="0"/>
            <c:showVal val="1"/>
            <c:showCatName val="0"/>
            <c:showSerName val="0"/>
            <c:showPercent val="0"/>
            <c:showBubbleSize val="0"/>
            <c:showLeaderLines val="0"/>
          </c:dLbls>
          <c:cat>
            <c:multiLvlStrRef>
              <c:f>Sheet1!$A$2:$A$3</c:f>
              <c:multiLvlStrCache>
                <c:ptCount val="2"/>
                <c:lvl>
                  <c:pt idx="0">
                    <c:v>Fuego</c:v>
                  </c:pt>
                  <c:pt idx="1">
                    <c:v>Humo</c:v>
                  </c:pt>
                </c:lvl>
              </c:multiLvlStrCache>
            </c:multiLvlStrRef>
          </c:cat>
          <c:val>
            <c:numRef>
              <c:f>Sheet1!$C$2:$C$3</c:f>
              <c:numCache>
                <c:formatCode>General</c:formatCode>
                <c:ptCount val="2"/>
                <c:pt idx="0">
                  <c:v>27.7</c:v>
                </c:pt>
                <c:pt idx="1">
                  <c:v/>
                </c:pt>
              </c:numCache>
            </c:numRef>
          </c:val>
        </c:ser>
        <c:dLbls>
          <c:numFmt formatCode="0.0&quot; %&quot;" sourceLinked="0"/>
          <c:txPr>
            <a:bodyPr/>
            <a:lstStyle/>
            <a:p>
              <a:pPr>
                <a:defRPr b="0" i="0" strike="noStrike" sz="1200" u="none">
                  <a:solidFill>
                    <a:srgbClr val="44403C"/>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7534E"/>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753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44403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44403C"/>
                </a:solidFill>
                <a:latin typeface="+mn-lt"/>
              </a:defRPr>
            </a:pPr>
            <a:r>
              <a:rPr sz="1400" b="0" i="0" u="none" strike="noStrike">
                <a:solidFill>
                  <a:srgbClr val="44403C"/>
                </a:solidFill>
                <a:latin typeface="+mn-lt"/>
              </a:rPr>
              <a:t>Test con casi-duplicado en train, por tipo de imagen</a:t>
            </a:r>
          </a:p>
        </c:rich>
      </c:tx>
      <c:layout/>
      <c:overlay val="0"/>
    </c:title>
    <c:autoTitleDeleted val="0"/>
    <c:plotArea>
      <c:layout/>
      <c:barChart>
        <c:barDir val="bar"/>
        <c:grouping val="clustered"/>
        <c:varyColors val="0"/>
        <c:ser>
          <c:idx val="0"/>
          <c:order val="0"/>
          <c:tx>
            <c:strRef>
              <c:f>Sheet1!$B$1</c:f>
              <c:strCache>
                <c:ptCount val="1"/>
                <c:pt idx="0">
                  <c:v>% con casi-duplicado</c:v>
                </c:pt>
              </c:strCache>
            </c:strRef>
          </c:tx>
          <c:spPr>
            <a:solidFill>
              <a:srgbClr val="78716C"/>
            </a:solidFill>
            <a:effectLst/>
          </c:spPr>
          <c:invertIfNegative val="0"/>
          <c:dLbls>
            <c:numFmt formatCode="0.0&quot; %&quot;" sourceLinked="0"/>
            <c:txPr>
              <a:bodyPr/>
              <a:lstStyle/>
              <a:p>
                <a:pPr>
                  <a:defRPr b="0" i="0" strike="noStrike" sz="1200" u="none">
                    <a:solidFill>
                      <a:srgbClr val="44403C"/>
                    </a:solidFill>
                    <a:latin typeface="+mn-lt"/>
                  </a:defRPr>
                </a:pPr>
              </a:p>
            </c:txPr>
            <c:showLegendKey val="0"/>
            <c:showVal val="1"/>
            <c:showCatName val="0"/>
            <c:showSerName val="0"/>
            <c:showPercent val="0"/>
            <c:showBubbleSize val="0"/>
            <c:showLeaderLines val="0"/>
          </c:dLbls>
          <c:dPt>
            <c:idx val="0"/>
            <c:invertIfNegative val="0"/>
            <c:bubble3D val="0"/>
            <c:spPr>
              <a:solidFill>
                <a:srgbClr val="78716C"/>
              </a:solidFill>
              <a:effectLst/>
            </c:spPr>
          </c:dPt>
          <c:dPt>
            <c:idx val="1"/>
            <c:invertIfNegative val="0"/>
            <c:bubble3D val="0"/>
            <c:spPr>
              <a:solidFill>
                <a:srgbClr val="78716C"/>
              </a:solidFill>
              <a:effectLst/>
            </c:spPr>
          </c:dPt>
          <c:dPt>
            <c:idx val="2"/>
            <c:invertIfNegative val="0"/>
            <c:bubble3D val="0"/>
            <c:spPr>
              <a:solidFill>
                <a:srgbClr val="78716C"/>
              </a:solidFill>
              <a:effectLst/>
            </c:spPr>
          </c:dPt>
          <c:dPt>
            <c:idx val="3"/>
            <c:invertIfNegative val="0"/>
            <c:bubble3D val="0"/>
            <c:spPr>
              <a:solidFill>
                <a:srgbClr val="E8590C"/>
              </a:solidFill>
              <a:effectLst/>
            </c:spPr>
          </c:dPt>
          <c:cat>
            <c:multiLvlStrRef>
              <c:f>Sheet1!$A$2:$A$5</c:f>
              <c:multiLvlStrCache>
                <c:ptCount val="4"/>
                <c:lvl>
                  <c:pt idx="0">
                    <c:v>Negativas</c:v>
                  </c:pt>
                  <c:pt idx="1">
                    <c:v>Solo fuego</c:v>
                  </c:pt>
                  <c:pt idx="2">
                    <c:v>Solo humo</c:v>
                  </c:pt>
                  <c:pt idx="3">
                    <c:v>Todo el test</c:v>
                  </c:pt>
                </c:lvl>
              </c:multiLvlStrCache>
            </c:multiLvlStrRef>
          </c:cat>
          <c:val>
            <c:numRef>
              <c:f>Sheet1!$B$2:$B$5</c:f>
              <c:numCache>
                <c:formatCode>General</c:formatCode>
                <c:ptCount val="4"/>
                <c:pt idx="0">
                  <c:v>61.1</c:v>
                </c:pt>
                <c:pt idx="1">
                  <c:v>57.7</c:v>
                </c:pt>
                <c:pt idx="2">
                  <c:v>48.6</c:v>
                </c:pt>
                <c:pt idx="3">
                  <c:v>49.9</c:v>
                </c:pt>
              </c:numCache>
            </c:numRef>
          </c:val>
        </c:ser>
        <c:dLbls>
          <c:numFmt formatCode="0.0&quot; %&quot;" sourceLinked="0"/>
          <c:txPr>
            <a:bodyPr/>
            <a:lstStyle/>
            <a:p>
              <a:pPr>
                <a:defRPr b="0" i="0" strike="noStrike" sz="1200" u="none">
                  <a:solidFill>
                    <a:srgbClr val="44403C"/>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7534E"/>
                </a:solidFill>
                <a:latin typeface="+mn-lt"/>
              </a:defRPr>
            </a:pPr>
            <a:endParaRPr lang="en-US"/>
          </a:p>
        </c:txPr>
        <c:crossAx val="2094734552"/>
        <c:crosses val="autoZero"/>
        <c:auto val="1"/>
        <c:lblAlgn val="ctr"/>
        <c:noMultiLvlLbl val="1"/>
      </c:catAx>
      <c:valAx>
        <c:axId val="2094734552"/>
        <c:scaling>
          <c:orientation val="minMax"/>
          <c:max val="75"/>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753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44403C"/>
                </a:solidFill>
                <a:latin typeface="+mn-lt"/>
              </a:defRPr>
            </a:pPr>
            <a:r>
              <a:rPr sz="1400" b="0" i="0" u="none" strike="noStrike">
                <a:solidFill>
                  <a:srgbClr val="44403C"/>
                </a:solidFill>
                <a:latin typeface="+mn-lt"/>
              </a:rPr>
              <a:t>mAP50 vs. latencia</a:t>
            </a:r>
          </a:p>
        </c:rich>
      </c:tx>
      <c:layout/>
      <c:overlay val="0"/>
    </c:title>
    <c:autoTitleDeleted val="0"/>
    <c:plotArea>
      <c:layout/>
      <c:scatterChart>
        <c:scatterStyle val="lineMarker"/>
        <c:varyColors val="0"/>
        <c:ser>
          <c:idx val="0"/>
          <c:order val="0"/>
          <c:tx>
            <c:strRef>
              <c:f>Sheet1!$B$1</c:f>
              <c:strCache>
                <c:ptCount val="1"/>
                <c:pt idx="0">
                  <c:v>mAP50 test</c:v>
                </c:pt>
              </c:strCache>
            </c:strRef>
          </c:tx>
          <c:spPr>
            <a:solidFill>
              <a:srgbClr val="E8590C"/>
            </a:solidFill>
            <a:ln>
              <a:noFill/>
            </a:ln>
            <a:effectLst/>
          </c:spPr>
          <c:marker>
            <c:symbol val="circle"/>
            <c:size val="12"/>
            <c:spPr>
              <a:solidFill>
                <a:srgbClr val="E8590C"/>
              </a:solidFill>
              <a:ln w="9525" cap="flat">
                <a:solidFill>
                  <a:srgbClr val="E8590C"/>
                </a:solidFill>
                <a:prstDash val="solid"/>
                <a:round/>
              </a:ln>
              <a:effectLst/>
            </c:spPr>
          </c:marker>
          <c:dLbls>
            <c:dLbl>
              <c:idx val="0"/>
              <c:tx>
                <c:rich>
                  <a:bodyPr>
                    <a:spAutoFit/>
                  </a:bodyPr>
                  <a:lstStyle/>
                  <a:p>
                    <a:pPr>
                      <a:defRPr/>
                    </a:pPr>
                    <a:r>
                      <a:rPr lang="en-US" dirty="0"/>
                      <a:t>R1 n·640</a:t>
                    </a:r>
                  </a:p>
                </c:rich>
              </c:tx>
              <c:spPr>
                <a:noFill/>
                <a:ln>
                  <a:noFill/>
                </a:ln>
                <a:effectLst/>
              </c:spPr>
              <c:dLblPos val="r"/>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1-3012-ffd3-639a-f7bfc4233a6c}"/>
                </c:ext>
              </c:extLst>
            </c:dLbl>
            <c:dLbl>
              <c:idx val="1"/>
              <c:tx>
                <c:rich>
                  <a:bodyPr>
                    <a:spAutoFit/>
                  </a:bodyPr>
                  <a:lstStyle/>
                  <a:p>
                    <a:pPr>
                      <a:defRPr/>
                    </a:pPr>
                    <a:r>
                      <a:rPr lang="en-US" dirty="0"/>
                      <a:t>R3 m·640</a:t>
                    </a:r>
                  </a:p>
                </c:rich>
              </c:tx>
              <c:spPr>
                <a:noFill/>
                <a:ln>
                  <a:noFill/>
                </a:ln>
                <a:effectLst/>
              </c:spPr>
              <c:dLblPos val="r"/>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2-3012-ffd3-639a-f7bfc4233a6c}"/>
                </c:ext>
              </c:extLst>
            </c:dLbl>
            <c:dLbl>
              <c:idx val="2"/>
              <c:tx>
                <c:rich>
                  <a:bodyPr>
                    <a:spAutoFit/>
                  </a:bodyPr>
                  <a:lstStyle/>
                  <a:p>
                    <a:pPr>
                      <a:defRPr/>
                    </a:pPr>
                    <a:r>
                      <a:rPr lang="en-US" dirty="0"/>
                      <a:t>R4 n·960</a:t>
                    </a:r>
                  </a:p>
                </c:rich>
              </c:tx>
              <c:spPr>
                <a:noFill/>
                <a:ln>
                  <a:noFill/>
                </a:ln>
                <a:effectLst/>
              </c:spPr>
              <c:dLblPos val="r"/>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3-3012-ffd3-639a-f7bfc4233a6c}"/>
                </c:ext>
              </c:extLst>
            </c:dLbl>
            <c:dLbl>
              <c:idx val="3"/>
              <c:tx>
                <c:rich>
                  <a:bodyPr>
                    <a:spAutoFit/>
                  </a:bodyPr>
                  <a:lstStyle/>
                  <a:p>
                    <a:pPr>
                      <a:defRPr/>
                    </a:pPr>
                    <a:r>
                      <a:rPr lang="en-US" dirty="0"/>
                      <a:t>R5 n·640 sin neg</a:t>
                    </a:r>
                  </a:p>
                </c:rich>
              </c:tx>
              <c:spPr>
                <a:noFill/>
                <a:ln>
                  <a:noFill/>
                </a:ln>
                <a:effectLst/>
              </c:spPr>
              <c:dLblPos val="r"/>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4-3012-ffd3-639a-f7bfc4233a6c}"/>
                </c:ext>
              </c:extLst>
            </c:dLbl>
          </c:dLbls>
          <c:xVal>
            <c:numRef>
              <c:f>Sheet1!$A$2:$A$5</c:f>
              <c:numCache>
                <c:formatCode>General</c:formatCode>
                <c:ptCount val="4"/>
                <c:pt idx="0">
                  <c:v>56</c:v>
                </c:pt>
                <c:pt idx="1">
                  <c:v>299</c:v>
                </c:pt>
                <c:pt idx="2">
                  <c:v>92</c:v>
                </c:pt>
                <c:pt idx="3">
                  <c:v>55</c:v>
                </c:pt>
              </c:numCache>
            </c:numRef>
          </c:xVal>
          <c:yVal>
            <c:numRef>
              <c:f>Sheet1!$B$2:$B$5</c:f>
              <c:numCache>
                <c:formatCode>General</c:formatCode>
                <c:ptCount val="4"/>
                <c:pt idx="0">
                  <c:v>0.759</c:v>
                </c:pt>
                <c:pt idx="1">
                  <c:v>0.779</c:v>
                </c:pt>
                <c:pt idx="2">
                  <c:v>0.773</c:v>
                </c:pt>
                <c:pt idx="3">
                  <c:v>0.699</c:v>
                </c:pt>
              </c:numCache>
            </c:numRef>
          </c:yVal>
          <c:smooth val="0"/>
        </c:ser>
        <c:dLbls>
          <c:numFmt formatCode="General" sourceLinked="0"/>
          <c:txPr>
            <a:bodyPr/>
            <a:lstStyle/>
            <a:p>
              <a:pPr>
                <a:defRPr b="0" i="0" strike="noStrike" sz="1200" u="none">
                  <a:solidFill>
                    <a:srgbClr val="44403C"/>
                  </a:solidFill>
                  <a:latin typeface="+mn-lt"/>
                </a:defRPr>
              </a:pPr>
            </a:p>
          </c:txPr>
          <c:dLblPos val="r"/>
          <c:showLegendKey val="0"/>
          <c:showVal val="0"/>
          <c:showCatName val="0"/>
          <c:showSerName val="0"/>
          <c:showPercent val="0"/>
          <c:showBubbleSize val="0"/>
        </c:dLbls>
        <c:axId val="2094734554"/>
        <c:axId val="2094734552"/>
      </c:scatterChart>
      <c:valAx>
        <c:axId val="2094734554"/>
        <c:scaling>
          <c:orientation val="minMax"/>
          <c:max val="350"/>
          <c:min val="0"/>
        </c:scaling>
        <c:delete val="0"/>
        <c:axPos val="b"/>
        <c:majorGridlines>
          <c:spPr>
            <a:ln w="9525" cap="flat">
              <a:solidFill>
                <a:srgbClr val="E7E5E4"/>
              </a:solidFill>
              <a:prstDash val="solid"/>
              <a:round/>
            </a:ln>
          </c:spPr>
        </c:majorGridlines>
        <c:title>
          <c:tx>
            <c:rich>
              <a:bodyPr/>
              <a:lstStyle/>
              <a:p>
                <a:pPr>
                  <a:defRPr sz="1200" b="0" i="0" u="none" strike="noStrike">
                    <a:solidFill>
                      <a:srgbClr val="57534E"/>
                    </a:solidFill>
                    <a:latin typeface="Arial"/>
                  </a:defRPr>
                </a:pPr>
                <a:r>
                  <a:rPr sz="1200" b="0" i="0" u="none" strike="noStrike">
                    <a:solidFill>
                      <a:srgbClr val="57534E"/>
                    </a:solidFill>
                    <a:latin typeface="Arial"/>
                  </a:rPr>
                  <a:t>ms por frame en CPU (batch 1)</a:t>
                </a:r>
              </a:p>
            </c:rich>
          </c:tx>
          <c:layout/>
          <c:overlay val="0"/>
        </c:title>
        <c:numFmt formatCode="0.00"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57534E"/>
                </a:solidFill>
                <a:latin typeface="+mn-lt"/>
              </a:defRPr>
            </a:pPr>
            <a:endParaRPr lang="en-US"/>
          </a:p>
        </c:txPr>
        <c:crossAx val="2094734552"/>
        <c:crosses val="autoZero"/>
        <c:auto val="1"/>
        <c:lblAlgn val="ctr"/>
        <c:noMultiLvlLbl val="1"/>
      </c:valAx>
      <c:valAx>
        <c:axId val="2094734552"/>
        <c:scaling>
          <c:orientation val="minMax"/>
          <c:max val="0.8"/>
          <c:min val="0.68"/>
        </c:scaling>
        <c:delete val="0"/>
        <c:axPos val="l"/>
        <c:majorGridlines>
          <c:spPr>
            <a:ln w="9525" cap="flat">
              <a:solidFill>
                <a:srgbClr val="E7E5E4"/>
              </a:solidFill>
              <a:prstDash val="solid"/>
              <a:round/>
            </a:ln>
          </c:spPr>
        </c:majorGridlines>
        <c:title>
          <c:tx>
            <c:rich>
              <a:bodyPr/>
              <a:lstStyle/>
              <a:p>
                <a:pPr>
                  <a:defRPr sz="1200" b="0" i="0" u="none" strike="noStrike">
                    <a:solidFill>
                      <a:srgbClr val="57534E"/>
                    </a:solidFill>
                    <a:latin typeface="Arial"/>
                  </a:defRPr>
                </a:pPr>
                <a:r>
                  <a:rPr sz="1200" b="0" i="0" u="none" strike="noStrike">
                    <a:solidFill>
                      <a:srgbClr val="57534E"/>
                    </a:solidFill>
                    <a:latin typeface="Arial"/>
                  </a:rPr>
                  <a:t>mAP50 en test</a:t>
                </a:r>
              </a:p>
            </c:rich>
          </c:tx>
          <c:layout/>
          <c:overlay val="0"/>
        </c:title>
        <c:numFmt formatCode="0.00" sourceLinked="0"/>
        <c:majorTickMark val="none"/>
        <c:minorTickMark val="none"/>
        <c:tickLblPos val="nextTo"/>
        <c:spPr>
          <a:ln w="12700" cap="flat">
            <a:solidFill>
              <a:srgbClr val="888888"/>
            </a:solidFill>
            <a:prstDash val="solid"/>
            <a:round/>
          </a:ln>
        </c:spPr>
        <c:txPr>
          <a:bodyPr/>
          <a:lstStyle/>
          <a:p>
            <a:pPr>
              <a:defRPr sz="1100" b="0" i="0" u="none" strike="noStrike">
                <a:solidFill>
                  <a:srgbClr val="57534E"/>
                </a:solidFill>
                <a:latin typeface="+mn-lt"/>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44403C"/>
                </a:solidFill>
                <a:latin typeface="+mn-lt"/>
              </a:defRPr>
            </a:pPr>
            <a:r>
              <a:rPr sz="1400" b="0" i="0" u="none" strike="noStrike">
                <a:solidFill>
                  <a:srgbClr val="44403C"/>
                </a:solidFill>
                <a:latin typeface="+mn-lt"/>
              </a:rPr>
              <a:t>Recall a τ = 0,4 por tamaño de caja (COCO)</a:t>
            </a:r>
          </a:p>
        </c:rich>
      </c:tx>
      <c:layout/>
      <c:overlay val="0"/>
    </c:title>
    <c:autoTitleDeleted val="0"/>
    <c:plotArea>
      <c:layout/>
      <c:barChart>
        <c:barDir val="col"/>
        <c:grouping val="clustered"/>
        <c:varyColors val="0"/>
        <c:ser>
          <c:idx val="0"/>
          <c:order val="0"/>
          <c:tx>
            <c:strRef>
              <c:f>Sheet1!$B$1</c:f>
              <c:strCache>
                <c:ptCount val="1"/>
                <c:pt idx="0">
                  <c:v>R1 · 640 px</c:v>
                </c:pt>
              </c:strCache>
            </c:strRef>
          </c:tx>
          <c:spPr>
            <a:solidFill>
              <a:srgbClr val="78716C"/>
            </a:solidFill>
            <a:effectLst/>
          </c:spPr>
          <c:invertIfNegative val="0"/>
          <c:dLbls>
            <c:numFmt formatCode="0.00" sourceLinked="0"/>
            <c:txPr>
              <a:bodyPr/>
              <a:lstStyle/>
              <a:p>
                <a:pPr>
                  <a:defRPr b="0" i="0" strike="noStrike" sz="1200" u="none">
                    <a:solidFill>
                      <a:srgbClr val="44403C"/>
                    </a:solidFill>
                    <a:latin typeface="+mn-lt"/>
                  </a:defRPr>
                </a:pPr>
              </a:p>
            </c:txPr>
            <c:showLegendKey val="0"/>
            <c:showVal val="1"/>
            <c:showCatName val="0"/>
            <c:showSerName val="0"/>
            <c:showPercent val="0"/>
            <c:showBubbleSize val="0"/>
            <c:showLeaderLines val="0"/>
          </c:dLbls>
          <c:cat>
            <c:multiLvlStrRef>
              <c:f>Sheet1!$A$2:$A$7</c:f>
              <c:multiLvlStrCache>
                <c:ptCount val="6"/>
                <c:lvl>
                  <c:pt idx="0">
                    <c:v>Fuego small</c:v>
                  </c:pt>
                  <c:pt idx="1">
                    <c:v>Fuego medium</c:v>
                  </c:pt>
                  <c:pt idx="2">
                    <c:v>Fuego large</c:v>
                  </c:pt>
                  <c:pt idx="3">
                    <c:v>Humo small</c:v>
                  </c:pt>
                  <c:pt idx="4">
                    <c:v>Humo medium</c:v>
                  </c:pt>
                  <c:pt idx="5">
                    <c:v>Humo large</c:v>
                  </c:pt>
                </c:lvl>
              </c:multiLvlStrCache>
            </c:multiLvlStrRef>
          </c:cat>
          <c:val>
            <c:numRef>
              <c:f>Sheet1!$B$2:$B$7</c:f>
              <c:numCache>
                <c:formatCode>General</c:formatCode>
                <c:ptCount val="6"/>
                <c:pt idx="0">
                  <c:v>0.405</c:v>
                </c:pt>
                <c:pt idx="1">
                  <c:v>0.653</c:v>
                </c:pt>
                <c:pt idx="2">
                  <c:v>0.747</c:v>
                </c:pt>
                <c:pt idx="3">
                  <c:v>0.487</c:v>
                </c:pt>
                <c:pt idx="4">
                  <c:v>0.618</c:v>
                </c:pt>
                <c:pt idx="5">
                  <c:v>0.795</c:v>
                </c:pt>
              </c:numCache>
            </c:numRef>
          </c:val>
        </c:ser>
        <c:ser>
          <c:idx val="1"/>
          <c:order val="1"/>
          <c:tx>
            <c:strRef>
              <c:f>Sheet1!$C$1</c:f>
              <c:strCache>
                <c:ptCount val="1"/>
                <c:pt idx="0">
                  <c:v>R4 · 960 px</c:v>
                </c:pt>
              </c:strCache>
            </c:strRef>
          </c:tx>
          <c:spPr>
            <a:solidFill>
              <a:srgbClr val="E8590C"/>
            </a:solidFill>
            <a:effectLst/>
          </c:spPr>
          <c:invertIfNegative val="0"/>
          <c:dLbls>
            <c:numFmt formatCode="0.00" sourceLinked="0"/>
            <c:txPr>
              <a:bodyPr/>
              <a:lstStyle/>
              <a:p>
                <a:pPr>
                  <a:defRPr b="0" i="0" strike="noStrike" sz="1200" u="none">
                    <a:solidFill>
                      <a:srgbClr val="44403C"/>
                    </a:solidFill>
                    <a:latin typeface="+mn-lt"/>
                  </a:defRPr>
                </a:pPr>
              </a:p>
            </c:txPr>
            <c:showLegendKey val="0"/>
            <c:showVal val="1"/>
            <c:showCatName val="0"/>
            <c:showSerName val="0"/>
            <c:showPercent val="0"/>
            <c:showBubbleSize val="0"/>
            <c:showLeaderLines val="0"/>
          </c:dLbls>
          <c:cat>
            <c:multiLvlStrRef>
              <c:f>Sheet1!$A$2:$A$7</c:f>
              <c:multiLvlStrCache>
                <c:ptCount val="6"/>
                <c:lvl>
                  <c:pt idx="0">
                    <c:v>Fuego small</c:v>
                  </c:pt>
                  <c:pt idx="1">
                    <c:v>Fuego medium</c:v>
                  </c:pt>
                  <c:pt idx="2">
                    <c:v>Fuego large</c:v>
                  </c:pt>
                  <c:pt idx="3">
                    <c:v>Humo small</c:v>
                  </c:pt>
                  <c:pt idx="4">
                    <c:v>Humo medium</c:v>
                  </c:pt>
                  <c:pt idx="5">
                    <c:v>Humo large</c:v>
                  </c:pt>
                </c:lvl>
              </c:multiLvlStrCache>
            </c:multiLvlStrRef>
          </c:cat>
          <c:val>
            <c:numRef>
              <c:f>Sheet1!$C$2:$C$7</c:f>
              <c:numCache>
                <c:formatCode>General</c:formatCode>
                <c:ptCount val="6"/>
                <c:pt idx="0">
                  <c:v>0.439</c:v>
                </c:pt>
                <c:pt idx="1">
                  <c:v>0.656</c:v>
                </c:pt>
                <c:pt idx="2">
                  <c:v>0.721</c:v>
                </c:pt>
                <c:pt idx="3">
                  <c:v>0.533</c:v>
                </c:pt>
                <c:pt idx="4">
                  <c:v>0.637</c:v>
                </c:pt>
                <c:pt idx="5">
                  <c:v>0.791</c:v>
                </c:pt>
              </c:numCache>
            </c:numRef>
          </c:val>
        </c:ser>
        <c:dLbls>
          <c:numFmt formatCode="0.00" sourceLinked="0"/>
          <c:txPr>
            <a:bodyPr/>
            <a:lstStyle/>
            <a:p>
              <a:pPr>
                <a:defRPr b="0" i="0" strike="noStrike" sz="1200" u="none">
                  <a:solidFill>
                    <a:srgbClr val="44403C"/>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7534E"/>
                </a:solidFill>
                <a:latin typeface="+mn-lt"/>
              </a:defRPr>
            </a:pPr>
            <a:endParaRPr lang="en-US"/>
          </a:p>
        </c:txPr>
        <c:crossAx val="2094734552"/>
        <c:crosses val="autoZero"/>
        <c:auto val="1"/>
        <c:lblAlgn val="ctr"/>
        <c:noMultiLvlLbl val="1"/>
      </c:catAx>
      <c:valAx>
        <c:axId val="2094734552"/>
        <c:scaling>
          <c:orientation val="minMax"/>
          <c:max val="0.9"/>
          <c:min val="0"/>
        </c:scaling>
        <c:delete val="0"/>
        <c:axPos val="l"/>
        <c:majorGridlines>
          <c:spPr>
            <a:ln w="9525" cap="flat">
              <a:solidFill>
                <a:srgbClr val="E7E5E4"/>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753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44403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44403C"/>
                </a:solidFill>
                <a:latin typeface="+mn-lt"/>
              </a:defRPr>
            </a:pPr>
            <a:r>
              <a:rPr sz="1400" b="0" i="0" u="none" strike="noStrike">
                <a:solidFill>
                  <a:srgbClr val="44403C"/>
                </a:solidFill>
                <a:latin typeface="+mn-lt"/>
              </a:rPr>
              <a:t>Imágenes negativas de test con al menos un FP (τ = 0,4)</a:t>
            </a:r>
          </a:p>
        </c:rich>
      </c:tx>
      <c:layout/>
      <c:overlay val="0"/>
    </c:title>
    <c:autoTitleDeleted val="0"/>
    <c:plotArea>
      <c:layout/>
      <c:barChart>
        <c:barDir val="col"/>
        <c:grouping val="clustered"/>
        <c:varyColors val="0"/>
        <c:ser>
          <c:idx val="0"/>
          <c:order val="0"/>
          <c:tx>
            <c:strRef>
              <c:f>Sheet1!$B$1</c:f>
              <c:strCache>
                <c:ptCount val="1"/>
                <c:pt idx="0">
                  <c:v>% imágenes negativas con FP</c:v>
                </c:pt>
              </c:strCache>
            </c:strRef>
          </c:tx>
          <c:spPr>
            <a:solidFill>
              <a:srgbClr val="78716C"/>
            </a:solidFill>
            <a:effectLst/>
          </c:spPr>
          <c:invertIfNegative val="0"/>
          <c:dLbls>
            <c:numFmt formatCode="0.0#&quot; %&quot;" sourceLinked="0"/>
            <c:txPr>
              <a:bodyPr/>
              <a:lstStyle/>
              <a:p>
                <a:pPr>
                  <a:defRPr b="0" i="0" strike="noStrike" sz="1200" u="none">
                    <a:solidFill>
                      <a:srgbClr val="44403C"/>
                    </a:solidFill>
                    <a:latin typeface="+mn-lt"/>
                  </a:defRPr>
                </a:pPr>
              </a:p>
            </c:txPr>
            <c:showLegendKey val="0"/>
            <c:showVal val="1"/>
            <c:showCatName val="0"/>
            <c:showSerName val="0"/>
            <c:showPercent val="0"/>
            <c:showBubbleSize val="0"/>
            <c:showLeaderLines val="0"/>
          </c:dLbls>
          <c:dPt>
            <c:idx val="0"/>
            <c:invertIfNegative val="0"/>
            <c:bubble3D val="0"/>
            <c:spPr>
              <a:solidFill>
                <a:srgbClr val="78716C"/>
              </a:solidFill>
              <a:effectLst/>
            </c:spPr>
          </c:dPt>
          <c:dPt>
            <c:idx val="1"/>
            <c:invertIfNegative val="0"/>
            <c:bubble3D val="0"/>
            <c:spPr>
              <a:solidFill>
                <a:srgbClr val="E8590C"/>
              </a:solidFill>
              <a:effectLst/>
            </c:spPr>
          </c:dPt>
          <c:dPt>
            <c:idx val="2"/>
            <c:invertIfNegative val="0"/>
            <c:bubble3D val="0"/>
            <c:spPr>
              <a:solidFill>
                <a:srgbClr val="3B82B6"/>
              </a:solidFill>
              <a:effectLst/>
            </c:spPr>
          </c:dPt>
          <c:cat>
            <c:multiLvlStrRef>
              <c:f>Sheet1!$A$2:$A$4</c:f>
              <c:multiLvlStrCache>
                <c:ptCount val="3"/>
                <c:lvl>
                  <c:pt idx="0">
                    <c:v>Sin negativas (R5)</c:v>
                  </c:pt>
                  <c:pt idx="1">
                    <c:v>Con negativas (R1)</c:v>
                  </c:pt>
                  <c:pt idx="2">
                    <c:v>R1 + clasificador</c:v>
                  </c:pt>
                </c:lvl>
              </c:multiLvlStrCache>
            </c:multiLvlStrRef>
          </c:cat>
          <c:val>
            <c:numRef>
              <c:f>Sheet1!$B$2:$B$4</c:f>
              <c:numCache>
                <c:formatCode>General</c:formatCode>
                <c:ptCount val="3"/>
                <c:pt idx="0">
                  <c:v>28.8</c:v>
                </c:pt>
                <c:pt idx="1">
                  <c:v>0.65</c:v>
                </c:pt>
                <c:pt idx="2">
                  <c:v>0.1</c:v>
                </c:pt>
              </c:numCache>
            </c:numRef>
          </c:val>
        </c:ser>
        <c:dLbls>
          <c:numFmt formatCode="0.0#&quot; %&quot;" sourceLinked="0"/>
          <c:txPr>
            <a:bodyPr/>
            <a:lstStyle/>
            <a:p>
              <a:pPr>
                <a:defRPr b="0" i="0" strike="noStrike" sz="1200" u="none">
                  <a:solidFill>
                    <a:srgbClr val="44403C"/>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7534E"/>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753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del equipo y del problema en una frase: un prototipo que mira video y avisa si hay fuego o humo, con pocas falsas alarmas y corriendo en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Casos reales de menos de 8 años (requisito de las pautas). De ahí sale el diseño: un detector solo no alcanza, necesitamos filtrar falsos positivos y medir a nivel alerta.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a partir de video, emitir alertas de fuego o humo con pocas falsas alarmas y latencia compatible con CPU. Cada hipótesis tiene un experimento asociado; el color indica dónde estamos hoy.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14.685 cajas de fuego y 11.854 de humo. Casi la mitad del fuego es 'small' a 640 px: eso motiva H1. A 960 px baja al 27,7 % (no medimos humo a 960 en el EDA).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Hallazgo propio del EDA. Mantenemos el split oficial para comparar con la literatura, pero hay que leer los números con cuidado. Recomendación: separar por cámara o escena.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detector va con umbral bajo para no perder candidatos. El clasificador filtra por contenido; el K-de-N filtra por persistencia. Con histéresis, una clase queda en alerta hasta que el buffer se vacía: un incendio intermitente produce un solo evento.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Fuego es la clase difícil en todas las configuraciones (mAP50 0,06–0,12 por debajo de humo). Como el criterio temporal necesita varios frames por segundo, elegimos nano. R2 (small) no se corrió.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H1 se confirma pero el efecto es moderado. Humo small sube 4,6 puntos. Resolución sola no resuelve focos incipientes; trabajo futuro: tiling o SAHI.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efecto más fuerte del estudio. 0,33 FP por imagen negativa sin negativas, 0,007 con negativas. Es la decisión de datos más importante.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Validación del clasificador: exactitud 0,942. Con umbral 0,8 no queda ningún FP en negativas pero el recall de humo cae a 0,634. Como R1 ya casi no se equivoca en las negativas del test, el beneficio real hay que medirlo fuera de D-Fire (set de estrés, pendiente).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H3 por ahora es cualitativa: en estos clips el incendio ya se ve desde el primer frame y no hay tramos sin evento, así que no se puede medir latencia de alerta ni falsas alarmas por hora.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Revisamos los 20 FP de mayor confianza y los 20 FN de mayor área por clase. Falta completar la columna 'causa' de results/errores_causas.csv (80 filas) para mostrar la distribución de causas.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Reemplazar el recuadro por el gráfico de barrido_alerta.ipynb cuando estén los clips.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Completar la tabla con los resultados de analisis_errores.ipynb cuando esté armado el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gradio ya está en requirements.txt pero todavía no hay app. Reutiliza la clase Sistema de demo.py.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Pautas: el video se proyecta y un integrante lo narra en vivo. Insertar el MP4 en esta diapositiva (Insertar →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Séptima conclusión del paper, si hay tiempo: el mAP de humo subestima la utilidad para alerta, porque muchos FP son diferencias de granularidad de la anotación.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ULO">
    <p:bg>
      <p:bgPr>
        <a:solidFill>
          <a:srgbClr val="1C191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5669280" cy="20116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640080" y="4069080"/>
            <a:ext cx="5669280" cy="2011680"/>
          </a:xfrm>
          <a:prstGeom prst="rect">
            <a:avLst/>
          </a:prstGeom>
          <a:noFill/>
          <a:ln/>
        </p:spPr>
        <p:txBody>
          <a:bodyPr wrap="square" rtlCol="0"/>
          <a:lstStyle>
            <a:lvl1pPr indent="0" marL="0">
              <a:buNone/>
              <a:defRPr lang="en-US" sz="1800" dirty="0">
                <a:solidFill>
                  <a:srgbClr val="D6D3D1"/>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CION">
    <p:bg>
      <p:bgPr>
        <a:solidFill>
          <a:srgbClr val="1C191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377440"/>
            <a:ext cx="10515600" cy="118872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822960" y="3749040"/>
            <a:ext cx="10515600" cy="1097280"/>
          </a:xfrm>
          <a:prstGeom prst="rect">
            <a:avLst/>
          </a:prstGeom>
          <a:noFill/>
          <a:ln/>
        </p:spPr>
        <p:txBody>
          <a:bodyPr wrap="square" rtlCol="0"/>
          <a:lstStyle>
            <a:lvl1pPr indent="0" marL="0">
              <a:buNone/>
              <a:defRPr lang="en-US" sz="2000" dirty="0">
                <a:solidFill>
                  <a:srgbClr val="D6D3D1"/>
                </a:solidFill>
              </a:defRPr>
            </a:lvl1pPr>
          </a:lstStyle>
          <a:p>
            <a:pPr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78716C"/>
                </a:solidFill>
              </a:rPr>
              <a:t>Detección temprana de incendios · VC II · Equipo 7</a:t>
            </a:r>
            <a:endParaRPr lang="en-US" sz="1000" dirty="0"/>
          </a:p>
        </p:txBody>
      </p:sp>
      <p:sp>
        <p:nvSpPr>
          <p:cNvPr id="3" name="Text 1"/>
          <p:cNvSpPr/>
          <p:nvPr>
            <p:ph idx="101" type="title" hasCustomPrompt="1"/>
          </p:nvPr>
        </p:nvSpPr>
        <p:spPr>
          <a:xfrm>
            <a:off x="548640" y="365760"/>
            <a:ext cx="11064240" cy="77724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8716C"/>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IERRE">
    <p:bg>
      <p:bgPr>
        <a:solidFill>
          <a:srgbClr val="1C1917"/>
        </a:solidFill>
      </p:bgPr>
    </p:bg>
    <p:spTree>
      <p:nvGrpSpPr>
        <p:cNvPr id="1" name=""/>
        <p:cNvGrpSpPr/>
        <p:nvPr/>
      </p:nvGrpSpPr>
      <p:grpSpPr>
        <a:xfrm>
          <a:off x="0" y="0"/>
          <a:ext cx="0" cy="0"/>
          <a:chOff x="0" y="0"/>
          <a:chExt cx="0" cy="0"/>
        </a:xfrm>
      </p:grpSpPr>
      <p:sp>
        <p:nvSpPr>
          <p:cNvPr id="2" name="Text 0"/>
          <p:cNvSpPr/>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A8A29E"/>
                </a:solidFill>
              </a:rPr>
              <a:t>Detección temprana de incendios · VC II · Equipo 7</a:t>
            </a:r>
            <a:endParaRPr lang="en-US" sz="1000" dirty="0"/>
          </a:p>
        </p:txBody>
      </p:sp>
      <p:sp>
        <p:nvSpPr>
          <p:cNvPr id="3" name="Text 1"/>
          <p:cNvSpPr/>
          <p:nvPr>
            <p:ph idx="101" type="title" hasCustomPrompt="1"/>
          </p:nvPr>
        </p:nvSpPr>
        <p:spPr>
          <a:xfrm>
            <a:off x="548640" y="365760"/>
            <a:ext cx="11064240" cy="77724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29E"/>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8716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4.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5669280" cy="2011680"/>
          </a:xfrm>
          <a:prstGeom prst="rect">
            <a:avLst/>
          </a:prstGeom>
          <a:noFill/>
          <a:ln/>
        </p:spPr>
        <p:txBody>
          <a:bodyPr wrap="square" lIns="0" tIns="0" rIns="0" bIns="0" rtlCol="0" anchor="b"/>
          <a:lstStyle/>
          <a:p>
            <a:pPr algn="l" indent="0" marL="0">
              <a:buNone/>
            </a:pPr>
            <a:r>
              <a:rPr lang="en-US" sz="4000" b="1" dirty="0">
                <a:solidFill>
                  <a:schemeClr val="bg1"/>
                </a:solidFill>
              </a:rPr>
              <a:t>Detección temprana de incendios con YOLO11</a:t>
            </a:r>
            <a:endParaRPr lang="en-US" sz="4000" dirty="0"/>
          </a:p>
        </p:txBody>
      </p:sp>
      <p:sp>
        <p:nvSpPr>
          <p:cNvPr id="3" name="Text 0"/>
          <p:cNvSpPr/>
          <p:nvPr>
            <p:ph idx="101" type="body" hasCustomPrompt="1"/>
          </p:nvPr>
        </p:nvSpPr>
        <p:spPr>
          <a:xfrm>
            <a:off x="640080" y="4069080"/>
            <a:ext cx="5669280" cy="2011680"/>
          </a:xfrm>
          <a:prstGeom prst="rect">
            <a:avLst/>
          </a:prstGeom>
          <a:noFill/>
          <a:ln/>
        </p:spPr>
        <p:txBody>
          <a:bodyPr wrap="square" lIns="0" tIns="0" rIns="0" bIns="0" rtlCol="0" anchor="t"/>
          <a:lstStyle/>
          <a:p>
            <a:pPr indent="0" marL="0">
              <a:buNone/>
            </a:pPr>
            <a:r>
              <a:rPr lang="en-US" sz="1800" dirty="0">
                <a:solidFill>
                  <a:srgbClr val="D6D3D1"/>
                </a:solidFill>
              </a:rPr>
              <a:t>Detector, clasificador y criterio temporal sobre D-Fire</a:t>
            </a:r>
            <a:endParaRPr lang="en-US" sz="1800" dirty="0"/>
          </a:p>
          <a:p>
            <a:pPr indent="0" marL="0">
              <a:buNone/>
            </a:pPr>
            <a:r>
              <a:rPr lang="en-US" sz="1000" dirty="0">
                <a:solidFill>
                  <a:srgbClr val="D6D3D1"/>
                </a:solidFill>
              </a:rPr>
              <a:t> </a:t>
            </a:r>
            <a:endParaRPr lang="en-US" sz="1800" dirty="0"/>
          </a:p>
          <a:p>
            <a:pPr indent="0" marL="0">
              <a:buNone/>
            </a:pPr>
            <a:r>
              <a:rPr lang="en-US" sz="1800" b="1" dirty="0">
                <a:solidFill>
                  <a:schemeClr val="bg1"/>
                </a:solidFill>
              </a:rPr>
              <a:t>Martín Amagliani · Tatiana Durán · Tomás Frechou</a:t>
            </a:r>
            <a:endParaRPr lang="en-US" sz="1800" dirty="0"/>
          </a:p>
          <a:p>
            <a:pPr indent="0" marL="0">
              <a:buNone/>
            </a:pPr>
            <a:r>
              <a:rPr lang="en-US" sz="1500" dirty="0">
                <a:solidFill>
                  <a:srgbClr val="D6D3D1"/>
                </a:solidFill>
              </a:rPr>
              <a:t>Visión por Computadora II · CEIA · FIUBA · Equipo 7</a:t>
            </a:r>
            <a:endParaRPr lang="en-US" sz="1800" dirty="0"/>
          </a:p>
        </p:txBody>
      </p:sp>
      <p:pic>
        <p:nvPicPr>
          <p:cNvPr id="4" name="Frame de la demo" descr="/home/mamagliani/Documents/posgrado IA/Vision por computadora 2/deteccion_incendios/paper/figuras/demo_frame.jpg">    </p:cNvPr>
          <p:cNvPicPr>
            <a:picLocks noChangeAspect="1"/>
          </p:cNvPicPr>
          <p:nvPr/>
        </p:nvPicPr>
        <p:blipFill>
          <a:blip r:embed="rId1"/>
          <a:srcRect l="0" r="0" t="0" b="0"/>
          <a:stretch/>
        </p:blipFill>
        <p:spPr>
          <a:xfrm>
            <a:off x="6766560" y="0"/>
            <a:ext cx="542513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Detectar a tiempo cambia el resultado de un incendio</a:t>
            </a:r>
            <a:endParaRPr lang="en-US" sz="3000" dirty="0"/>
          </a:p>
        </p:txBody>
      </p:sp>
      <p:sp>
        <p:nvSpPr>
          <p:cNvPr id="3" name="Tarjeta caso 1"/>
          <p:cNvSpPr/>
          <p:nvPr/>
        </p:nvSpPr>
        <p:spPr>
          <a:xfrm>
            <a:off x="548640" y="1463040"/>
            <a:ext cx="3520440" cy="3017520"/>
          </a:xfrm>
          <a:prstGeom prst="roundRect">
            <a:avLst>
              <a:gd name="adj" fmla="val 2424"/>
            </a:avLst>
          </a:prstGeom>
          <a:solidFill>
            <a:schemeClr val="bg2"/>
          </a:solidFill>
          <a:ln/>
        </p:spPr>
      </p:sp>
      <p:sp>
        <p:nvSpPr>
          <p:cNvPr id="4" name="Caso 1 círculo"/>
          <p:cNvSpPr/>
          <p:nvPr/>
        </p:nvSpPr>
        <p:spPr>
          <a:xfrm>
            <a:off x="868680" y="1737360"/>
            <a:ext cx="685800" cy="685800"/>
          </a:xfrm>
          <a:prstGeom prst="ellipse">
            <a:avLst/>
          </a:prstGeom>
          <a:solidFill>
            <a:schemeClr val="accent1"/>
          </a:solidFill>
          <a:ln/>
        </p:spPr>
      </p:sp>
      <p:pic>
        <p:nvPicPr>
          <p:cNvPr id="5" name="Caso 1 ícono" descr="preencoded.png">    </p:cNvPr>
          <p:cNvPicPr>
            <a:picLocks noChangeAspect="1"/>
          </p:cNvPicPr>
          <p:nvPr/>
        </p:nvPicPr>
        <p:blipFill>
          <a:blip r:embed="rId1"/>
          <a:stretch>
            <a:fillRect/>
          </a:stretch>
        </p:blipFill>
        <p:spPr>
          <a:xfrm>
            <a:off x="1040130" y="1908810"/>
            <a:ext cx="342900" cy="342900"/>
          </a:xfrm>
          <a:prstGeom prst="rect">
            <a:avLst/>
          </a:prstGeom>
        </p:spPr>
      </p:pic>
      <p:sp>
        <p:nvSpPr>
          <p:cNvPr id="6" name="Text 3"/>
          <p:cNvSpPr txBox="1"/>
          <p:nvPr/>
        </p:nvSpPr>
        <p:spPr>
          <a:xfrm>
            <a:off x="868680" y="2514600"/>
            <a:ext cx="2926080" cy="73152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1.000+</a:t>
            </a:r>
            <a:endParaRPr lang="en-US" sz="4000" dirty="0"/>
          </a:p>
        </p:txBody>
      </p:sp>
      <p:sp>
        <p:nvSpPr>
          <p:cNvPr id="7" name="Text 4"/>
          <p:cNvSpPr txBox="1"/>
          <p:nvPr/>
        </p:nvSpPr>
        <p:spPr>
          <a:xfrm>
            <a:off x="868680" y="3319272"/>
            <a:ext cx="2926080" cy="685800"/>
          </a:xfrm>
          <a:prstGeom prst="rect">
            <a:avLst/>
          </a:prstGeom>
          <a:noFill/>
          <a:ln/>
        </p:spPr>
        <p:txBody>
          <a:bodyPr wrap="square" lIns="0" tIns="0" rIns="0" bIns="0" rtlCol="0" anchor="t"/>
          <a:lstStyle/>
          <a:p>
            <a:pPr indent="0" marL="0">
              <a:buNone/>
            </a:pPr>
            <a:r>
              <a:rPr lang="en-US" sz="1400" dirty="0">
                <a:solidFill>
                  <a:schemeClr val="tx2"/>
                </a:solidFill>
              </a:rPr>
              <a:t>cámaras analizadas por IA en California (ALERTCalifornia + CAL FIRE, 2023)</a:t>
            </a:r>
            <a:endParaRPr lang="en-US" sz="1400" dirty="0"/>
          </a:p>
        </p:txBody>
      </p:sp>
      <p:sp>
        <p:nvSpPr>
          <p:cNvPr id="8" name="Tarjeta caso 2"/>
          <p:cNvSpPr/>
          <p:nvPr/>
        </p:nvSpPr>
        <p:spPr>
          <a:xfrm>
            <a:off x="4343400" y="1463040"/>
            <a:ext cx="3520440" cy="3017520"/>
          </a:xfrm>
          <a:prstGeom prst="roundRect">
            <a:avLst>
              <a:gd name="adj" fmla="val 2424"/>
            </a:avLst>
          </a:prstGeom>
          <a:solidFill>
            <a:schemeClr val="bg2"/>
          </a:solidFill>
          <a:ln/>
        </p:spPr>
      </p:sp>
      <p:sp>
        <p:nvSpPr>
          <p:cNvPr id="9" name="Caso 2 círculo"/>
          <p:cNvSpPr/>
          <p:nvPr/>
        </p:nvSpPr>
        <p:spPr>
          <a:xfrm>
            <a:off x="4663440" y="1737360"/>
            <a:ext cx="685800" cy="685800"/>
          </a:xfrm>
          <a:prstGeom prst="ellipse">
            <a:avLst/>
          </a:prstGeom>
          <a:solidFill>
            <a:schemeClr val="accent1"/>
          </a:solidFill>
          <a:ln/>
        </p:spPr>
      </p:sp>
      <p:pic>
        <p:nvPicPr>
          <p:cNvPr id="10" name="Caso 2 ícono" descr="preencoded.png">    </p:cNvPr>
          <p:cNvPicPr>
            <a:picLocks noChangeAspect="1"/>
          </p:cNvPicPr>
          <p:nvPr/>
        </p:nvPicPr>
        <p:blipFill>
          <a:blip r:embed="rId2"/>
          <a:stretch>
            <a:fillRect/>
          </a:stretch>
        </p:blipFill>
        <p:spPr>
          <a:xfrm>
            <a:off x="4834890" y="1908810"/>
            <a:ext cx="342900" cy="342900"/>
          </a:xfrm>
          <a:prstGeom prst="rect">
            <a:avLst/>
          </a:prstGeom>
        </p:spPr>
      </p:pic>
      <p:sp>
        <p:nvSpPr>
          <p:cNvPr id="11" name="Text 7"/>
          <p:cNvSpPr txBox="1"/>
          <p:nvPr/>
        </p:nvSpPr>
        <p:spPr>
          <a:xfrm>
            <a:off x="4663440" y="2514600"/>
            <a:ext cx="2926080" cy="73152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21</a:t>
            </a:r>
            <a:endParaRPr lang="en-US" sz="4000" dirty="0"/>
          </a:p>
        </p:txBody>
      </p:sp>
      <p:sp>
        <p:nvSpPr>
          <p:cNvPr id="12" name="Text 8"/>
          <p:cNvSpPr txBox="1"/>
          <p:nvPr/>
        </p:nvSpPr>
        <p:spPr>
          <a:xfrm>
            <a:off x="4663440" y="3319272"/>
            <a:ext cx="2926080" cy="685800"/>
          </a:xfrm>
          <a:prstGeom prst="rect">
            <a:avLst/>
          </a:prstGeom>
          <a:noFill/>
          <a:ln/>
        </p:spPr>
        <p:txBody>
          <a:bodyPr wrap="square" lIns="0" tIns="0" rIns="0" bIns="0" rtlCol="0" anchor="t"/>
          <a:lstStyle/>
          <a:p>
            <a:pPr indent="0" marL="0">
              <a:buNone/>
            </a:pPr>
            <a:r>
              <a:rPr lang="en-US" sz="1400" dirty="0">
                <a:solidFill>
                  <a:schemeClr val="tx2"/>
                </a:solidFill>
              </a:rPr>
              <a:t>centros de despacho reciben alertas automáticas desde septiembre de 2023</a:t>
            </a:r>
            <a:endParaRPr lang="en-US" sz="1400" dirty="0"/>
          </a:p>
        </p:txBody>
      </p:sp>
      <p:sp>
        <p:nvSpPr>
          <p:cNvPr id="13" name="Tarjeta caso 3"/>
          <p:cNvSpPr/>
          <p:nvPr/>
        </p:nvSpPr>
        <p:spPr>
          <a:xfrm>
            <a:off x="8138160" y="1463040"/>
            <a:ext cx="3520440" cy="3017520"/>
          </a:xfrm>
          <a:prstGeom prst="roundRect">
            <a:avLst>
              <a:gd name="adj" fmla="val 2424"/>
            </a:avLst>
          </a:prstGeom>
          <a:solidFill>
            <a:schemeClr val="bg2"/>
          </a:solidFill>
          <a:ln/>
        </p:spPr>
      </p:sp>
      <p:sp>
        <p:nvSpPr>
          <p:cNvPr id="14" name="Caso 3 círculo"/>
          <p:cNvSpPr/>
          <p:nvPr/>
        </p:nvSpPr>
        <p:spPr>
          <a:xfrm>
            <a:off x="8458200" y="1737360"/>
            <a:ext cx="685800" cy="685800"/>
          </a:xfrm>
          <a:prstGeom prst="ellipse">
            <a:avLst/>
          </a:prstGeom>
          <a:solidFill>
            <a:schemeClr val="accent1"/>
          </a:solidFill>
          <a:ln/>
        </p:spPr>
      </p:sp>
      <p:pic>
        <p:nvPicPr>
          <p:cNvPr id="15" name="Caso 3 ícono" descr="preencoded.png">    </p:cNvPr>
          <p:cNvPicPr>
            <a:picLocks noChangeAspect="1"/>
          </p:cNvPicPr>
          <p:nvPr/>
        </p:nvPicPr>
        <p:blipFill>
          <a:blip r:embed="rId3"/>
          <a:stretch>
            <a:fillRect/>
          </a:stretch>
        </p:blipFill>
        <p:spPr>
          <a:xfrm>
            <a:off x="8629650" y="1908810"/>
            <a:ext cx="342900" cy="342900"/>
          </a:xfrm>
          <a:prstGeom prst="rect">
            <a:avLst/>
          </a:prstGeom>
        </p:spPr>
      </p:pic>
      <p:sp>
        <p:nvSpPr>
          <p:cNvPr id="16" name="Text 11"/>
          <p:cNvSpPr txBox="1"/>
          <p:nvPr/>
        </p:nvSpPr>
        <p:spPr>
          <a:xfrm>
            <a:off x="8458200" y="2514600"/>
            <a:ext cx="2926080" cy="731520"/>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Aleph-fuego</a:t>
            </a:r>
            <a:endParaRPr lang="en-US" sz="3000" dirty="0"/>
          </a:p>
        </p:txBody>
      </p:sp>
      <p:sp>
        <p:nvSpPr>
          <p:cNvPr id="17" name="Text 12"/>
          <p:cNvSpPr txBox="1"/>
          <p:nvPr/>
        </p:nvSpPr>
        <p:spPr>
          <a:xfrm>
            <a:off x="8458200" y="3319272"/>
            <a:ext cx="2926080" cy="685800"/>
          </a:xfrm>
          <a:prstGeom prst="rect">
            <a:avLst/>
          </a:prstGeom>
          <a:noFill/>
          <a:ln/>
        </p:spPr>
        <p:txBody>
          <a:bodyPr wrap="square" lIns="0" tIns="0" rIns="0" bIns="0" rtlCol="0" anchor="t"/>
          <a:lstStyle/>
          <a:p>
            <a:pPr indent="0" marL="0">
              <a:buNone/>
            </a:pPr>
            <a:r>
              <a:rPr lang="en-US" sz="1400" dirty="0">
                <a:solidFill>
                  <a:schemeClr val="tx2"/>
                </a:solidFill>
              </a:rPr>
              <a:t>INVAP · Río Negro: opera en Bariloche y El Bolsón tras el incendio de 2025 (221 viviendas)</a:t>
            </a:r>
            <a:endParaRPr lang="en-US" sz="1400" dirty="0"/>
          </a:p>
        </p:txBody>
      </p:sp>
      <p:sp>
        <p:nvSpPr>
          <p:cNvPr id="18" name="Text 13"/>
          <p:cNvSpPr txBox="1"/>
          <p:nvPr/>
        </p:nvSpPr>
        <p:spPr>
          <a:xfrm>
            <a:off x="548640" y="4846320"/>
            <a:ext cx="11064240" cy="1097280"/>
          </a:xfrm>
          <a:prstGeom prst="rect">
            <a:avLst/>
          </a:prstGeom>
          <a:noFill/>
          <a:ln/>
        </p:spPr>
        <p:txBody>
          <a:bodyPr wrap="square" lIns="0" tIns="0" rIns="0" bIns="0" rtlCol="0" anchor="t"/>
          <a:lstStyle/>
          <a:p>
            <a:pPr indent="0" marL="0">
              <a:buNone/>
            </a:pPr>
            <a:r>
              <a:rPr lang="en-US" sz="1700" b="1" dirty="0">
                <a:solidFill>
                  <a:schemeClr val="tx1"/>
                </a:solidFill>
              </a:rPr>
              <a:t>Lo que importa en operación no es el mAP por imagen: </a:t>
            </a:r>
            <a:pPr indent="0" marL="0">
              <a:buNone/>
            </a:pPr>
            <a:r>
              <a:rPr lang="en-US" sz="1700" dirty="0">
                <a:solidFill>
                  <a:schemeClr val="tx1"/>
                </a:solidFill>
              </a:rPr>
              <a:t>son las falsas alarmas por hora que recibe un operador y cuánto tarda en llegar una alerta verdadera. Nubes, niebla y polvo generan falsos positivos.</a:t>
            </a:r>
            <a:endParaRPr lang="en-US" sz="17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8716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Cuatro hipótesis guían los experimentos</a:t>
            </a:r>
            <a:endParaRPr lang="en-US" sz="3000" dirty="0"/>
          </a:p>
        </p:txBody>
      </p:sp>
      <p:sp>
        <p:nvSpPr>
          <p:cNvPr id="3" name="Tarjeta H1"/>
          <p:cNvSpPr/>
          <p:nvPr/>
        </p:nvSpPr>
        <p:spPr>
          <a:xfrm>
            <a:off x="548640" y="1417320"/>
            <a:ext cx="5440680" cy="2194560"/>
          </a:xfrm>
          <a:prstGeom prst="roundRect">
            <a:avLst>
              <a:gd name="adj" fmla="val 3333"/>
            </a:avLst>
          </a:prstGeom>
          <a:solidFill>
            <a:schemeClr val="bg2"/>
          </a:solidFill>
          <a:ln/>
        </p:spPr>
      </p:sp>
      <p:sp>
        <p:nvSpPr>
          <p:cNvPr id="4" name="Text 2"/>
          <p:cNvSpPr txBox="1"/>
          <p:nvPr/>
        </p:nvSpPr>
        <p:spPr>
          <a:xfrm>
            <a:off x="822960" y="1691640"/>
            <a:ext cx="914400" cy="64008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H1</a:t>
            </a:r>
            <a:endParaRPr lang="en-US" sz="3200" dirty="0"/>
          </a:p>
        </p:txBody>
      </p:sp>
      <p:sp>
        <p:nvSpPr>
          <p:cNvPr id="5" name="Text 3"/>
          <p:cNvSpPr txBox="1"/>
          <p:nvPr/>
        </p:nvSpPr>
        <p:spPr>
          <a:xfrm>
            <a:off x="1737360" y="1737360"/>
            <a:ext cx="4023360" cy="365760"/>
          </a:xfrm>
          <a:prstGeom prst="rect">
            <a:avLst/>
          </a:prstGeom>
          <a:noFill/>
          <a:ln/>
        </p:spPr>
        <p:txBody>
          <a:bodyPr wrap="square" lIns="0" tIns="0" rIns="0" bIns="0" rtlCol="0" anchor="t"/>
          <a:lstStyle/>
          <a:p>
            <a:pPr indent="0" marL="0">
              <a:buNone/>
            </a:pPr>
            <a:r>
              <a:rPr lang="en-US" sz="1800" b="1" dirty="0">
                <a:solidFill>
                  <a:schemeClr val="tx1"/>
                </a:solidFill>
              </a:rPr>
              <a:t>Resolución</a:t>
            </a:r>
            <a:endParaRPr lang="en-US" sz="1800" dirty="0"/>
          </a:p>
        </p:txBody>
      </p:sp>
      <p:sp>
        <p:nvSpPr>
          <p:cNvPr id="6" name="Text 4"/>
          <p:cNvSpPr txBox="1"/>
          <p:nvPr/>
        </p:nvSpPr>
        <p:spPr>
          <a:xfrm>
            <a:off x="1737360" y="2148840"/>
            <a:ext cx="4023360" cy="731520"/>
          </a:xfrm>
          <a:prstGeom prst="rect">
            <a:avLst/>
          </a:prstGeom>
          <a:noFill/>
          <a:ln/>
        </p:spPr>
        <p:txBody>
          <a:bodyPr wrap="square" lIns="0" tIns="0" rIns="0" bIns="0" rtlCol="0" anchor="t"/>
          <a:lstStyle/>
          <a:p>
            <a:pPr indent="0" marL="0">
              <a:buNone/>
            </a:pPr>
            <a:r>
              <a:rPr lang="en-US" sz="1500" dirty="0">
                <a:solidFill>
                  <a:schemeClr val="tx2"/>
                </a:solidFill>
              </a:rPr>
              <a:t>Subir de 640 a 960 px mejora el recall de objetos chicos</a:t>
            </a:r>
            <a:endParaRPr lang="en-US" sz="1500" dirty="0"/>
          </a:p>
        </p:txBody>
      </p:sp>
      <p:sp>
        <p:nvSpPr>
          <p:cNvPr id="7" name="Etiqueta Confirmada · efecto moderado"/>
          <p:cNvSpPr/>
          <p:nvPr/>
        </p:nvSpPr>
        <p:spPr>
          <a:xfrm>
            <a:off x="1737360" y="2971800"/>
            <a:ext cx="3291840" cy="384048"/>
          </a:xfrm>
          <a:prstGeom prst="roundRect">
            <a:avLst>
              <a:gd name="adj" fmla="val 50000"/>
            </a:avLst>
          </a:prstGeom>
          <a:solidFill>
            <a:schemeClr val="accent4"/>
          </a:solidFill>
          <a:ln/>
        </p:spPr>
      </p:sp>
      <p:sp>
        <p:nvSpPr>
          <p:cNvPr id="8" name="Texto etiqueta Confirmada · efecto moderado"/>
          <p:cNvSpPr txBox="1"/>
          <p:nvPr/>
        </p:nvSpPr>
        <p:spPr>
          <a:xfrm>
            <a:off x="1737360" y="2971800"/>
            <a:ext cx="3291840" cy="384048"/>
          </a:xfrm>
          <a:prstGeom prst="rect">
            <a:avLst/>
          </a:prstGeom>
          <a:noFill/>
          <a:ln/>
        </p:spPr>
        <p:txBody>
          <a:bodyPr wrap="square" lIns="0" tIns="0" rIns="0" bIns="0" rtlCol="0" anchor="ctr"/>
          <a:lstStyle/>
          <a:p>
            <a:pPr algn="ctr" indent="0" marL="0">
              <a:buNone/>
            </a:pPr>
            <a:r>
              <a:rPr lang="en-US" sz="1200" b="1" dirty="0">
                <a:solidFill>
                  <a:schemeClr val="bg1"/>
                </a:solidFill>
              </a:rPr>
              <a:t>Confirmada · efecto moderado</a:t>
            </a:r>
            <a:endParaRPr lang="en-US" sz="1200" dirty="0"/>
          </a:p>
        </p:txBody>
      </p:sp>
      <p:sp>
        <p:nvSpPr>
          <p:cNvPr id="9" name="Tarjeta H2"/>
          <p:cNvSpPr/>
          <p:nvPr/>
        </p:nvSpPr>
        <p:spPr>
          <a:xfrm>
            <a:off x="6172200" y="1417320"/>
            <a:ext cx="5440680" cy="2194560"/>
          </a:xfrm>
          <a:prstGeom prst="roundRect">
            <a:avLst>
              <a:gd name="adj" fmla="val 3333"/>
            </a:avLst>
          </a:prstGeom>
          <a:solidFill>
            <a:schemeClr val="bg2"/>
          </a:solidFill>
          <a:ln/>
        </p:spPr>
      </p:sp>
      <p:sp>
        <p:nvSpPr>
          <p:cNvPr id="10" name="Text 8"/>
          <p:cNvSpPr txBox="1"/>
          <p:nvPr/>
        </p:nvSpPr>
        <p:spPr>
          <a:xfrm>
            <a:off x="6446520" y="1691640"/>
            <a:ext cx="914400" cy="64008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H2</a:t>
            </a:r>
            <a:endParaRPr lang="en-US" sz="3200" dirty="0"/>
          </a:p>
        </p:txBody>
      </p:sp>
      <p:sp>
        <p:nvSpPr>
          <p:cNvPr id="11" name="Text 9"/>
          <p:cNvSpPr txBox="1"/>
          <p:nvPr/>
        </p:nvSpPr>
        <p:spPr>
          <a:xfrm>
            <a:off x="7360920" y="1737360"/>
            <a:ext cx="4023360" cy="365760"/>
          </a:xfrm>
          <a:prstGeom prst="rect">
            <a:avLst/>
          </a:prstGeom>
          <a:noFill/>
          <a:ln/>
        </p:spPr>
        <p:txBody>
          <a:bodyPr wrap="square" lIns="0" tIns="0" rIns="0" bIns="0" rtlCol="0" anchor="t"/>
          <a:lstStyle/>
          <a:p>
            <a:pPr indent="0" marL="0">
              <a:buNone/>
            </a:pPr>
            <a:r>
              <a:rPr lang="en-US" sz="1800" b="1" dirty="0">
                <a:solidFill>
                  <a:schemeClr val="tx1"/>
                </a:solidFill>
              </a:rPr>
              <a:t>Imágenes negativas</a:t>
            </a:r>
            <a:endParaRPr lang="en-US" sz="1800" dirty="0"/>
          </a:p>
        </p:txBody>
      </p:sp>
      <p:sp>
        <p:nvSpPr>
          <p:cNvPr id="12" name="Text 10"/>
          <p:cNvSpPr txBox="1"/>
          <p:nvPr/>
        </p:nvSpPr>
        <p:spPr>
          <a:xfrm>
            <a:off x="7360920" y="2148840"/>
            <a:ext cx="4023360" cy="731520"/>
          </a:xfrm>
          <a:prstGeom prst="rect">
            <a:avLst/>
          </a:prstGeom>
          <a:noFill/>
          <a:ln/>
        </p:spPr>
        <p:txBody>
          <a:bodyPr wrap="square" lIns="0" tIns="0" rIns="0" bIns="0" rtlCol="0" anchor="t"/>
          <a:lstStyle/>
          <a:p>
            <a:pPr indent="0" marL="0">
              <a:buNone/>
            </a:pPr>
            <a:r>
              <a:rPr lang="en-US" sz="1500" dirty="0">
                <a:solidFill>
                  <a:schemeClr val="tx2"/>
                </a:solidFill>
              </a:rPr>
              <a:t>Entrenar con negativas reduce falsos positivos sin perder recall</a:t>
            </a:r>
            <a:endParaRPr lang="en-US" sz="1500" dirty="0"/>
          </a:p>
        </p:txBody>
      </p:sp>
      <p:sp>
        <p:nvSpPr>
          <p:cNvPr id="13" name="Etiqueta Confirmada · 44× menos FP"/>
          <p:cNvSpPr/>
          <p:nvPr/>
        </p:nvSpPr>
        <p:spPr>
          <a:xfrm>
            <a:off x="7360920" y="2971800"/>
            <a:ext cx="3291840" cy="384048"/>
          </a:xfrm>
          <a:prstGeom prst="roundRect">
            <a:avLst>
              <a:gd name="adj" fmla="val 50000"/>
            </a:avLst>
          </a:prstGeom>
          <a:solidFill>
            <a:schemeClr val="accent4"/>
          </a:solidFill>
          <a:ln/>
        </p:spPr>
      </p:sp>
      <p:sp>
        <p:nvSpPr>
          <p:cNvPr id="14" name="Texto etiqueta Confirmada · 44× menos FP"/>
          <p:cNvSpPr txBox="1"/>
          <p:nvPr/>
        </p:nvSpPr>
        <p:spPr>
          <a:xfrm>
            <a:off x="7360920" y="2971800"/>
            <a:ext cx="3291840" cy="384048"/>
          </a:xfrm>
          <a:prstGeom prst="rect">
            <a:avLst/>
          </a:prstGeom>
          <a:noFill/>
          <a:ln/>
        </p:spPr>
        <p:txBody>
          <a:bodyPr wrap="square" lIns="0" tIns="0" rIns="0" bIns="0" rtlCol="0" anchor="ctr"/>
          <a:lstStyle/>
          <a:p>
            <a:pPr algn="ctr" indent="0" marL="0">
              <a:buNone/>
            </a:pPr>
            <a:r>
              <a:rPr lang="en-US" sz="1200" b="1" dirty="0">
                <a:solidFill>
                  <a:schemeClr val="bg1"/>
                </a:solidFill>
              </a:rPr>
              <a:t>Confirmada · 44× menos FP</a:t>
            </a:r>
            <a:endParaRPr lang="en-US" sz="1200" dirty="0"/>
          </a:p>
        </p:txBody>
      </p:sp>
      <p:sp>
        <p:nvSpPr>
          <p:cNvPr id="15" name="Tarjeta H3"/>
          <p:cNvSpPr/>
          <p:nvPr/>
        </p:nvSpPr>
        <p:spPr>
          <a:xfrm>
            <a:off x="548640" y="3840480"/>
            <a:ext cx="5440680" cy="2194560"/>
          </a:xfrm>
          <a:prstGeom prst="roundRect">
            <a:avLst>
              <a:gd name="adj" fmla="val 3333"/>
            </a:avLst>
          </a:prstGeom>
          <a:solidFill>
            <a:schemeClr val="bg2"/>
          </a:solidFill>
          <a:ln/>
        </p:spPr>
      </p:sp>
      <p:sp>
        <p:nvSpPr>
          <p:cNvPr id="16" name="Text 14"/>
          <p:cNvSpPr txBox="1"/>
          <p:nvPr/>
        </p:nvSpPr>
        <p:spPr>
          <a:xfrm>
            <a:off x="822960" y="4114800"/>
            <a:ext cx="914400" cy="64008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H3</a:t>
            </a:r>
            <a:endParaRPr lang="en-US" sz="3200" dirty="0"/>
          </a:p>
        </p:txBody>
      </p:sp>
      <p:sp>
        <p:nvSpPr>
          <p:cNvPr id="17" name="Text 15"/>
          <p:cNvSpPr txBox="1"/>
          <p:nvPr/>
        </p:nvSpPr>
        <p:spPr>
          <a:xfrm>
            <a:off x="1737360" y="4160520"/>
            <a:ext cx="4023360" cy="365760"/>
          </a:xfrm>
          <a:prstGeom prst="rect">
            <a:avLst/>
          </a:prstGeom>
          <a:noFill/>
          <a:ln/>
        </p:spPr>
        <p:txBody>
          <a:bodyPr wrap="square" lIns="0" tIns="0" rIns="0" bIns="0" rtlCol="0" anchor="t"/>
          <a:lstStyle/>
          <a:p>
            <a:pPr indent="0" marL="0">
              <a:buNone/>
            </a:pPr>
            <a:r>
              <a:rPr lang="en-US" sz="1800" b="1" dirty="0">
                <a:solidFill>
                  <a:schemeClr val="tx1"/>
                </a:solidFill>
              </a:rPr>
              <a:t>Criterio temporal</a:t>
            </a:r>
            <a:endParaRPr lang="en-US" sz="1800" dirty="0"/>
          </a:p>
        </p:txBody>
      </p:sp>
      <p:sp>
        <p:nvSpPr>
          <p:cNvPr id="18" name="Text 16"/>
          <p:cNvSpPr txBox="1"/>
          <p:nvPr/>
        </p:nvSpPr>
        <p:spPr>
          <a:xfrm>
            <a:off x="1737360" y="4572000"/>
            <a:ext cx="4023360" cy="731520"/>
          </a:xfrm>
          <a:prstGeom prst="rect">
            <a:avLst/>
          </a:prstGeom>
          <a:noFill/>
          <a:ln/>
        </p:spPr>
        <p:txBody>
          <a:bodyPr wrap="square" lIns="0" tIns="0" rIns="0" bIns="0" rtlCol="0" anchor="t"/>
          <a:lstStyle/>
          <a:p>
            <a:pPr indent="0" marL="0">
              <a:buNone/>
            </a:pPr>
            <a:r>
              <a:rPr lang="en-US" sz="1500" dirty="0">
                <a:solidFill>
                  <a:schemeClr val="tx2"/>
                </a:solidFill>
              </a:rPr>
              <a:t>K-de-N reduce falsas alarmas con latencia de alerta acotada</a:t>
            </a:r>
            <a:endParaRPr lang="en-US" sz="1500" dirty="0"/>
          </a:p>
        </p:txBody>
      </p:sp>
      <p:sp>
        <p:nvSpPr>
          <p:cNvPr id="19" name="Etiqueta Parcial · solo cualitativa"/>
          <p:cNvSpPr/>
          <p:nvPr/>
        </p:nvSpPr>
        <p:spPr>
          <a:xfrm>
            <a:off x="1737360" y="5394960"/>
            <a:ext cx="3291840" cy="384048"/>
          </a:xfrm>
          <a:prstGeom prst="roundRect">
            <a:avLst>
              <a:gd name="adj" fmla="val 50000"/>
            </a:avLst>
          </a:prstGeom>
          <a:solidFill>
            <a:schemeClr val="accent3"/>
          </a:solidFill>
          <a:ln/>
        </p:spPr>
      </p:sp>
      <p:sp>
        <p:nvSpPr>
          <p:cNvPr id="20" name="Texto etiqueta Parcial · solo cualitativa"/>
          <p:cNvSpPr txBox="1"/>
          <p:nvPr/>
        </p:nvSpPr>
        <p:spPr>
          <a:xfrm>
            <a:off x="1737360" y="5394960"/>
            <a:ext cx="3291840" cy="384048"/>
          </a:xfrm>
          <a:prstGeom prst="rect">
            <a:avLst/>
          </a:prstGeom>
          <a:noFill/>
          <a:ln/>
        </p:spPr>
        <p:txBody>
          <a:bodyPr wrap="square" lIns="0" tIns="0" rIns="0" bIns="0" rtlCol="0" anchor="ctr"/>
          <a:lstStyle/>
          <a:p>
            <a:pPr algn="ctr" indent="0" marL="0">
              <a:buNone/>
            </a:pPr>
            <a:r>
              <a:rPr lang="en-US" sz="1200" b="1" dirty="0">
                <a:solidFill>
                  <a:schemeClr val="bg1"/>
                </a:solidFill>
              </a:rPr>
              <a:t>Parcial · solo cualitativa</a:t>
            </a:r>
            <a:endParaRPr lang="en-US" sz="1200" dirty="0"/>
          </a:p>
        </p:txBody>
      </p:sp>
      <p:sp>
        <p:nvSpPr>
          <p:cNvPr id="21" name="Tarjeta H4"/>
          <p:cNvSpPr/>
          <p:nvPr/>
        </p:nvSpPr>
        <p:spPr>
          <a:xfrm>
            <a:off x="6172200" y="3840480"/>
            <a:ext cx="5440680" cy="2194560"/>
          </a:xfrm>
          <a:prstGeom prst="roundRect">
            <a:avLst>
              <a:gd name="adj" fmla="val 3333"/>
            </a:avLst>
          </a:prstGeom>
          <a:solidFill>
            <a:schemeClr val="bg2"/>
          </a:solidFill>
          <a:ln/>
        </p:spPr>
      </p:sp>
      <p:sp>
        <p:nvSpPr>
          <p:cNvPr id="22" name="Text 20"/>
          <p:cNvSpPr txBox="1"/>
          <p:nvPr/>
        </p:nvSpPr>
        <p:spPr>
          <a:xfrm>
            <a:off x="6446520" y="4114800"/>
            <a:ext cx="914400" cy="64008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H4</a:t>
            </a:r>
            <a:endParaRPr lang="en-US" sz="3200" dirty="0"/>
          </a:p>
        </p:txBody>
      </p:sp>
      <p:sp>
        <p:nvSpPr>
          <p:cNvPr id="23" name="Text 21"/>
          <p:cNvSpPr txBox="1"/>
          <p:nvPr/>
        </p:nvSpPr>
        <p:spPr>
          <a:xfrm>
            <a:off x="7360920" y="4160520"/>
            <a:ext cx="4023360" cy="365760"/>
          </a:xfrm>
          <a:prstGeom prst="rect">
            <a:avLst/>
          </a:prstGeom>
          <a:noFill/>
          <a:ln/>
        </p:spPr>
        <p:txBody>
          <a:bodyPr wrap="square" lIns="0" tIns="0" rIns="0" bIns="0" rtlCol="0" anchor="t"/>
          <a:lstStyle/>
          <a:p>
            <a:pPr indent="0" marL="0">
              <a:buNone/>
            </a:pPr>
            <a:r>
              <a:rPr lang="en-US" sz="1800" b="1" dirty="0">
                <a:solidFill>
                  <a:schemeClr val="tx1"/>
                </a:solidFill>
              </a:rPr>
              <a:t>Clasificador de recortes</a:t>
            </a:r>
            <a:endParaRPr lang="en-US" sz="1800" dirty="0"/>
          </a:p>
        </p:txBody>
      </p:sp>
      <p:sp>
        <p:nvSpPr>
          <p:cNvPr id="24" name="Text 22"/>
          <p:cNvSpPr txBox="1"/>
          <p:nvPr/>
        </p:nvSpPr>
        <p:spPr>
          <a:xfrm>
            <a:off x="7360920" y="4572000"/>
            <a:ext cx="4023360" cy="731520"/>
          </a:xfrm>
          <a:prstGeom prst="rect">
            <a:avLst/>
          </a:prstGeom>
          <a:noFill/>
          <a:ln/>
        </p:spPr>
        <p:txBody>
          <a:bodyPr wrap="square" lIns="0" tIns="0" rIns="0" bIns="0" rtlCol="0" anchor="t"/>
          <a:lstStyle/>
          <a:p>
            <a:pPr indent="0" marL="0">
              <a:buNone/>
            </a:pPr>
            <a:r>
              <a:rPr lang="en-US" sz="1500" dirty="0">
                <a:solidFill>
                  <a:schemeClr val="tx2"/>
                </a:solidFill>
              </a:rPr>
              <a:t>Un segundo modelo descarta falsos positivos con poca pérdida de recall</a:t>
            </a:r>
            <a:endParaRPr lang="en-US" sz="1500" dirty="0"/>
          </a:p>
        </p:txBody>
      </p:sp>
      <p:sp>
        <p:nvSpPr>
          <p:cNvPr id="25" name="Etiqueta Confirmada en test · falta estrés"/>
          <p:cNvSpPr/>
          <p:nvPr/>
        </p:nvSpPr>
        <p:spPr>
          <a:xfrm>
            <a:off x="7360920" y="5394960"/>
            <a:ext cx="3291840" cy="384048"/>
          </a:xfrm>
          <a:prstGeom prst="roundRect">
            <a:avLst>
              <a:gd name="adj" fmla="val 50000"/>
            </a:avLst>
          </a:prstGeom>
          <a:solidFill>
            <a:schemeClr val="accent4"/>
          </a:solidFill>
          <a:ln/>
        </p:spPr>
      </p:sp>
      <p:sp>
        <p:nvSpPr>
          <p:cNvPr id="26" name="Texto etiqueta Confirmada en test · falta estrés"/>
          <p:cNvSpPr txBox="1"/>
          <p:nvPr/>
        </p:nvSpPr>
        <p:spPr>
          <a:xfrm>
            <a:off x="7360920" y="5394960"/>
            <a:ext cx="3291840" cy="384048"/>
          </a:xfrm>
          <a:prstGeom prst="rect">
            <a:avLst/>
          </a:prstGeom>
          <a:noFill/>
          <a:ln/>
        </p:spPr>
        <p:txBody>
          <a:bodyPr wrap="square" lIns="0" tIns="0" rIns="0" bIns="0" rtlCol="0" anchor="ctr"/>
          <a:lstStyle/>
          <a:p>
            <a:pPr algn="ctr" indent="0" marL="0">
              <a:buNone/>
            </a:pPr>
            <a:r>
              <a:rPr lang="en-US" sz="1200" b="1" dirty="0">
                <a:solidFill>
                  <a:schemeClr val="bg1"/>
                </a:solidFill>
              </a:rPr>
              <a:t>Confirmada en test · falta estrés</a:t>
            </a:r>
            <a:endParaRPr lang="en-US" sz="12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8716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D-Fire: el fuego es chico y el humo es grande</a:t>
            </a:r>
            <a:endParaRPr lang="en-US" sz="3000" dirty="0"/>
          </a:p>
        </p:txBody>
      </p:sp>
      <p:sp>
        <p:nvSpPr>
          <p:cNvPr id="3" name="Text 1"/>
          <p:cNvSpPr txBox="1"/>
          <p:nvPr/>
        </p:nvSpPr>
        <p:spPr>
          <a:xfrm>
            <a:off x="548640" y="1371600"/>
            <a:ext cx="4206240" cy="73152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21.527</a:t>
            </a:r>
            <a:endParaRPr lang="en-US" sz="4000" dirty="0"/>
          </a:p>
        </p:txBody>
      </p:sp>
      <p:sp>
        <p:nvSpPr>
          <p:cNvPr id="4" name="Text 2"/>
          <p:cNvSpPr txBox="1"/>
          <p:nvPr/>
        </p:nvSpPr>
        <p:spPr>
          <a:xfrm>
            <a:off x="548640" y="2176272"/>
            <a:ext cx="4206240" cy="685800"/>
          </a:xfrm>
          <a:prstGeom prst="rect">
            <a:avLst/>
          </a:prstGeom>
          <a:noFill/>
          <a:ln/>
        </p:spPr>
        <p:txBody>
          <a:bodyPr wrap="square" lIns="0" tIns="0" rIns="0" bIns="0" rtlCol="0" anchor="t"/>
          <a:lstStyle/>
          <a:p>
            <a:pPr indent="0" marL="0">
              <a:buNone/>
            </a:pPr>
            <a:r>
              <a:rPr lang="en-US" sz="1400" dirty="0">
                <a:solidFill>
                  <a:schemeClr val="tx2"/>
                </a:solidFill>
              </a:rPr>
              <a:t>imágenes en formato YOLO · split oficial 14.122 / 3.099 / 4.306</a:t>
            </a:r>
            <a:endParaRPr lang="en-US" sz="1400" dirty="0"/>
          </a:p>
        </p:txBody>
      </p:sp>
      <p:sp>
        <p:nvSpPr>
          <p:cNvPr id="5" name="Text 3"/>
          <p:cNvSpPr txBox="1"/>
          <p:nvPr/>
        </p:nvSpPr>
        <p:spPr>
          <a:xfrm>
            <a:off x="548640" y="2971800"/>
            <a:ext cx="4206240" cy="73152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45,7 %</a:t>
            </a:r>
            <a:endParaRPr lang="en-US" sz="4000" dirty="0"/>
          </a:p>
        </p:txBody>
      </p:sp>
      <p:sp>
        <p:nvSpPr>
          <p:cNvPr id="6" name="Text 4"/>
          <p:cNvSpPr txBox="1"/>
          <p:nvPr/>
        </p:nvSpPr>
        <p:spPr>
          <a:xfrm>
            <a:off x="548640" y="3776472"/>
            <a:ext cx="4206240" cy="685800"/>
          </a:xfrm>
          <a:prstGeom prst="rect">
            <a:avLst/>
          </a:prstGeom>
          <a:noFill/>
          <a:ln/>
        </p:spPr>
        <p:txBody>
          <a:bodyPr wrap="square" lIns="0" tIns="0" rIns="0" bIns="0" rtlCol="0" anchor="t"/>
          <a:lstStyle/>
          <a:p>
            <a:pPr indent="0" marL="0">
              <a:buNone/>
            </a:pPr>
            <a:r>
              <a:rPr lang="en-US" sz="1400" dirty="0">
                <a:solidFill>
                  <a:schemeClr val="tx2"/>
                </a:solidFill>
              </a:rPr>
              <a:t>son negativas: sin fuego ni humo, con nubes, niebla y reflejos</a:t>
            </a:r>
            <a:endParaRPr lang="en-US" sz="1400" dirty="0"/>
          </a:p>
        </p:txBody>
      </p:sp>
      <p:sp>
        <p:nvSpPr>
          <p:cNvPr id="7" name="Text 5"/>
          <p:cNvSpPr txBox="1"/>
          <p:nvPr/>
        </p:nvSpPr>
        <p:spPr>
          <a:xfrm>
            <a:off x="548640" y="4572000"/>
            <a:ext cx="4206240" cy="731520"/>
          </a:xfrm>
          <a:prstGeom prst="rect">
            <a:avLst/>
          </a:prstGeom>
          <a:noFill/>
          <a:ln/>
        </p:spPr>
        <p:txBody>
          <a:bodyPr wrap="square" lIns="0" tIns="0" rIns="0" bIns="0" rtlCol="0" anchor="b"/>
          <a:lstStyle/>
          <a:p>
            <a:pPr indent="0" marL="0">
              <a:buNone/>
            </a:pPr>
            <a:r>
              <a:rPr lang="en-US" sz="3400" b="1" dirty="0">
                <a:solidFill>
                  <a:schemeClr val="accent1"/>
                </a:solidFill>
                <a:latin typeface="Cambria" pitchFamily="34" charset="0"/>
                <a:ea typeface="Cambria" pitchFamily="34" charset="-122"/>
                <a:cs typeface="Cambria" pitchFamily="34" charset="-120"/>
              </a:rPr>
              <a:t>36 vs 186 px</a:t>
            </a:r>
            <a:endParaRPr lang="en-US" sz="3400" dirty="0"/>
          </a:p>
        </p:txBody>
      </p:sp>
      <p:sp>
        <p:nvSpPr>
          <p:cNvPr id="8" name="Text 6"/>
          <p:cNvSpPr txBox="1"/>
          <p:nvPr/>
        </p:nvSpPr>
        <p:spPr>
          <a:xfrm>
            <a:off x="548640" y="5376672"/>
            <a:ext cx="4206240" cy="685800"/>
          </a:xfrm>
          <a:prstGeom prst="rect">
            <a:avLst/>
          </a:prstGeom>
          <a:noFill/>
          <a:ln/>
        </p:spPr>
        <p:txBody>
          <a:bodyPr wrap="square" lIns="0" tIns="0" rIns="0" bIns="0" rtlCol="0" anchor="t"/>
          <a:lstStyle/>
          <a:p>
            <a:pPr indent="0" marL="0">
              <a:buNone/>
            </a:pPr>
            <a:r>
              <a:rPr lang="en-US" sz="1400" dirty="0">
                <a:solidFill>
                  <a:schemeClr val="tx2"/>
                </a:solidFill>
              </a:rPr>
              <a:t>mediana del lado de la caja a 640 px: fuego vs humo</a:t>
            </a:r>
            <a:endParaRPr lang="en-US" sz="1400" dirty="0"/>
          </a:p>
        </p:txBody>
      </p:sp>
      <p:graphicFrame>
        <p:nvGraphicFramePr>
          <p:cNvPr id="9" name="Gráfico cajas chicas" descr=""/>
          <p:cNvGraphicFramePr/>
          <p:nvPr/>
        </p:nvGraphicFramePr>
        <p:xfrm>
          <a:off x="5212080" y="1371600"/>
          <a:ext cx="6400800" cy="47548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8716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La mitad del test oficial tiene un casi-duplicado en train</a:t>
            </a:r>
            <a:endParaRPr lang="en-US" sz="3000" dirty="0"/>
          </a:p>
        </p:txBody>
      </p:sp>
      <p:sp>
        <p:nvSpPr>
          <p:cNvPr id="3" name="Tarjeta fuga"/>
          <p:cNvSpPr/>
          <p:nvPr/>
        </p:nvSpPr>
        <p:spPr>
          <a:xfrm>
            <a:off x="548640" y="1417320"/>
            <a:ext cx="4206240" cy="4663440"/>
          </a:xfrm>
          <a:prstGeom prst="roundRect">
            <a:avLst>
              <a:gd name="adj" fmla="val 1739"/>
            </a:avLst>
          </a:prstGeom>
          <a:solidFill>
            <a:schemeClr val="bg2"/>
          </a:solidFill>
          <a:ln/>
        </p:spPr>
      </p:sp>
      <p:sp>
        <p:nvSpPr>
          <p:cNvPr id="4" name="Text 2"/>
          <p:cNvSpPr txBox="1"/>
          <p:nvPr/>
        </p:nvSpPr>
        <p:spPr>
          <a:xfrm>
            <a:off x="868680" y="1737360"/>
            <a:ext cx="3657600" cy="1097280"/>
          </a:xfrm>
          <a:prstGeom prst="rect">
            <a:avLst/>
          </a:prstGeom>
          <a:noFill/>
          <a:ln/>
        </p:spPr>
        <p:txBody>
          <a:bodyPr wrap="square" lIns="0" tIns="0" rIns="0" bIns="0" rtlCol="0" anchor="b"/>
          <a:lstStyle/>
          <a:p>
            <a:pPr indent="0" marL="0">
              <a:buNone/>
            </a:pPr>
            <a:r>
              <a:rPr lang="en-US" sz="6600" b="1" dirty="0">
                <a:solidFill>
                  <a:schemeClr val="accent1"/>
                </a:solidFill>
                <a:latin typeface="Cambria" pitchFamily="34" charset="0"/>
                <a:ea typeface="Cambria" pitchFamily="34" charset="-122"/>
                <a:cs typeface="Cambria" pitchFamily="34" charset="-120"/>
              </a:rPr>
              <a:t>49,9 %</a:t>
            </a:r>
            <a:endParaRPr lang="en-US" sz="6600" dirty="0"/>
          </a:p>
        </p:txBody>
      </p:sp>
      <p:sp>
        <p:nvSpPr>
          <p:cNvPr id="5" name="Text 3"/>
          <p:cNvSpPr txBox="1"/>
          <p:nvPr/>
        </p:nvSpPr>
        <p:spPr>
          <a:xfrm>
            <a:off x="868680" y="2926080"/>
            <a:ext cx="3657600" cy="914400"/>
          </a:xfrm>
          <a:prstGeom prst="rect">
            <a:avLst/>
          </a:prstGeom>
          <a:noFill/>
          <a:ln/>
        </p:spPr>
        <p:txBody>
          <a:bodyPr wrap="square" lIns="0" tIns="0" rIns="0" bIns="0" rtlCol="0" anchor="t"/>
          <a:lstStyle/>
          <a:p>
            <a:pPr indent="0" marL="0">
              <a:buNone/>
            </a:pPr>
            <a:r>
              <a:rPr lang="en-US" sz="1500" dirty="0">
                <a:solidFill>
                  <a:schemeClr val="tx2"/>
                </a:solidFill>
              </a:rPr>
              <a:t>de las imágenes de test tienen una de train a distancia de Hamming ≤ 4 (dHash de 64 bits)</a:t>
            </a:r>
            <a:endParaRPr lang="en-US" sz="1500" dirty="0"/>
          </a:p>
        </p:txBody>
      </p:sp>
      <p:sp>
        <p:nvSpPr>
          <p:cNvPr id="6" name="Text 4"/>
          <p:cNvSpPr txBox="1"/>
          <p:nvPr/>
        </p:nvSpPr>
        <p:spPr>
          <a:xfrm>
            <a:off x="868680" y="4069080"/>
            <a:ext cx="3657600" cy="1737360"/>
          </a:xfrm>
          <a:prstGeom prst="rect">
            <a:avLst/>
          </a:prstGeom>
          <a:noFill/>
          <a:ln/>
        </p:spPr>
        <p:txBody>
          <a:bodyPr wrap="square" lIns="0" tIns="0" rIns="0" bIns="0" rtlCol="0" anchor="t"/>
          <a:lstStyle/>
          <a:p>
            <a:pPr indent="0" marL="0">
              <a:buNone/>
            </a:pPr>
            <a:r>
              <a:rPr lang="en-US" sz="1500" b="1" dirty="0">
                <a:solidFill>
                  <a:schemeClr val="tx1"/>
                </a:solidFill>
              </a:rPr>
              <a:t>21,8 % </a:t>
            </a:r>
            <a:pPr indent="0" marL="0">
              <a:buNone/>
            </a:pPr>
            <a:r>
              <a:rPr lang="en-US" sz="1500" dirty="0">
                <a:solidFill>
                  <a:schemeClr val="tx2"/>
                </a:solidFill>
              </a:rPr>
              <a:t>son idénticas (distancia 0) aunque no hay duplicados MD5. Las métricas sobre el test oficial son una cota optimista para una cámara nueva.</a:t>
            </a:r>
            <a:endParaRPr lang="en-US" sz="1500" dirty="0"/>
          </a:p>
        </p:txBody>
      </p:sp>
      <p:graphicFrame>
        <p:nvGraphicFramePr>
          <p:cNvPr id="7" name="Gráfico fuga" descr=""/>
          <p:cNvGraphicFramePr/>
          <p:nvPr/>
        </p:nvGraphicFramePr>
        <p:xfrm>
          <a:off x="5212080" y="1417320"/>
          <a:ext cx="6400800" cy="46634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8716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Tres filtros entre el frame y la alerta</a:t>
            </a:r>
            <a:endParaRPr lang="en-US" sz="3000" dirty="0"/>
          </a:p>
        </p:txBody>
      </p:sp>
      <p:sp>
        <p:nvSpPr>
          <p:cNvPr id="3" name="Paso Frame"/>
          <p:cNvSpPr/>
          <p:nvPr/>
        </p:nvSpPr>
        <p:spPr>
          <a:xfrm>
            <a:off x="548640" y="1463040"/>
            <a:ext cx="1691640" cy="2514600"/>
          </a:xfrm>
          <a:prstGeom prst="roundRect">
            <a:avLst>
              <a:gd name="adj" fmla="val 4324"/>
            </a:avLst>
          </a:prstGeom>
          <a:solidFill>
            <a:schemeClr val="bg2"/>
          </a:solidFill>
          <a:ln/>
        </p:spPr>
      </p:sp>
      <p:sp>
        <p:nvSpPr>
          <p:cNvPr id="4" name="Paso Frame círculo"/>
          <p:cNvSpPr/>
          <p:nvPr/>
        </p:nvSpPr>
        <p:spPr>
          <a:xfrm>
            <a:off x="1028700" y="1691640"/>
            <a:ext cx="731520" cy="731520"/>
          </a:xfrm>
          <a:prstGeom prst="ellipse">
            <a:avLst/>
          </a:prstGeom>
          <a:solidFill>
            <a:schemeClr val="accent5"/>
          </a:solidFill>
          <a:ln/>
        </p:spPr>
      </p:sp>
      <p:pic>
        <p:nvPicPr>
          <p:cNvPr id="5" name="Paso Frame ícono" descr="preencoded.png">    </p:cNvPr>
          <p:cNvPicPr>
            <a:picLocks noChangeAspect="1"/>
          </p:cNvPicPr>
          <p:nvPr/>
        </p:nvPicPr>
        <p:blipFill>
          <a:blip r:embed="rId1"/>
          <a:stretch>
            <a:fillRect/>
          </a:stretch>
        </p:blipFill>
        <p:spPr>
          <a:xfrm>
            <a:off x="1211580" y="1874520"/>
            <a:ext cx="365760" cy="365760"/>
          </a:xfrm>
          <a:prstGeom prst="rect">
            <a:avLst/>
          </a:prstGeom>
        </p:spPr>
      </p:pic>
      <p:sp>
        <p:nvSpPr>
          <p:cNvPr id="6" name="Text 3"/>
          <p:cNvSpPr txBox="1"/>
          <p:nvPr/>
        </p:nvSpPr>
        <p:spPr>
          <a:xfrm>
            <a:off x="640080" y="2560320"/>
            <a:ext cx="1508760" cy="411480"/>
          </a:xfrm>
          <a:prstGeom prst="rect">
            <a:avLst/>
          </a:prstGeom>
          <a:noFill/>
          <a:ln/>
        </p:spPr>
        <p:txBody>
          <a:bodyPr wrap="square" lIns="0" tIns="0" rIns="0" bIns="0" rtlCol="0" anchor="t"/>
          <a:lstStyle/>
          <a:p>
            <a:pPr algn="ctr" indent="0" marL="0">
              <a:buNone/>
            </a:pPr>
            <a:r>
              <a:rPr lang="en-US" sz="1800" b="1" dirty="0">
                <a:solidFill>
                  <a:schemeClr val="tx1"/>
                </a:solidFill>
              </a:rPr>
              <a:t>Frame</a:t>
            </a:r>
            <a:endParaRPr lang="en-US" sz="1800" dirty="0"/>
          </a:p>
        </p:txBody>
      </p:sp>
      <p:sp>
        <p:nvSpPr>
          <p:cNvPr id="7" name="Text 4"/>
          <p:cNvSpPr txBox="1"/>
          <p:nvPr/>
        </p:nvSpPr>
        <p:spPr>
          <a:xfrm>
            <a:off x="685800" y="3017520"/>
            <a:ext cx="1417320" cy="868680"/>
          </a:xfrm>
          <a:prstGeom prst="rect">
            <a:avLst/>
          </a:prstGeom>
          <a:noFill/>
          <a:ln/>
        </p:spPr>
        <p:txBody>
          <a:bodyPr wrap="square" lIns="0" tIns="0" rIns="0" bIns="0" rtlCol="0" anchor="t"/>
          <a:lstStyle/>
          <a:p>
            <a:pPr algn="ctr" indent="0" marL="0">
              <a:buNone/>
            </a:pPr>
            <a:r>
              <a:rPr lang="en-US" sz="1300" dirty="0">
                <a:solidFill>
                  <a:schemeClr val="tx2"/>
                </a:solidFill>
              </a:rPr>
              <a:t>Video, cámara IP o webcam</a:t>
            </a:r>
            <a:endParaRPr lang="en-US" sz="1300" dirty="0"/>
          </a:p>
        </p:txBody>
      </p:sp>
      <p:sp>
        <p:nvSpPr>
          <p:cNvPr id="8" name="Flecha 0"/>
          <p:cNvSpPr/>
          <p:nvPr/>
        </p:nvSpPr>
        <p:spPr>
          <a:xfrm rot="5400000">
            <a:off x="2253996" y="2651760"/>
            <a:ext cx="155448" cy="137160"/>
          </a:xfrm>
          <a:prstGeom prst="triangle">
            <a:avLst/>
          </a:prstGeom>
          <a:solidFill>
            <a:schemeClr val="accent5"/>
          </a:solidFill>
          <a:ln/>
        </p:spPr>
      </p:sp>
      <p:sp>
        <p:nvSpPr>
          <p:cNvPr id="9" name="Paso Detector"/>
          <p:cNvSpPr/>
          <p:nvPr/>
        </p:nvSpPr>
        <p:spPr>
          <a:xfrm>
            <a:off x="2423160" y="1463040"/>
            <a:ext cx="1691640" cy="2514600"/>
          </a:xfrm>
          <a:prstGeom prst="roundRect">
            <a:avLst>
              <a:gd name="adj" fmla="val 4324"/>
            </a:avLst>
          </a:prstGeom>
          <a:solidFill>
            <a:schemeClr val="bg2"/>
          </a:solidFill>
          <a:ln/>
        </p:spPr>
      </p:sp>
      <p:sp>
        <p:nvSpPr>
          <p:cNvPr id="10" name="Paso Detector círculo"/>
          <p:cNvSpPr/>
          <p:nvPr/>
        </p:nvSpPr>
        <p:spPr>
          <a:xfrm>
            <a:off x="2903220" y="1691640"/>
            <a:ext cx="731520" cy="731520"/>
          </a:xfrm>
          <a:prstGeom prst="ellipse">
            <a:avLst/>
          </a:prstGeom>
          <a:solidFill>
            <a:schemeClr val="accent1"/>
          </a:solidFill>
          <a:ln/>
        </p:spPr>
      </p:sp>
      <p:pic>
        <p:nvPicPr>
          <p:cNvPr id="11" name="Paso Detector ícono" descr="preencoded.png">    </p:cNvPr>
          <p:cNvPicPr>
            <a:picLocks noChangeAspect="1"/>
          </p:cNvPicPr>
          <p:nvPr/>
        </p:nvPicPr>
        <p:blipFill>
          <a:blip r:embed="rId2"/>
          <a:stretch>
            <a:fillRect/>
          </a:stretch>
        </p:blipFill>
        <p:spPr>
          <a:xfrm>
            <a:off x="3086100" y="1874520"/>
            <a:ext cx="365760" cy="365760"/>
          </a:xfrm>
          <a:prstGeom prst="rect">
            <a:avLst/>
          </a:prstGeom>
        </p:spPr>
      </p:pic>
      <p:sp>
        <p:nvSpPr>
          <p:cNvPr id="12" name="Text 8"/>
          <p:cNvSpPr txBox="1"/>
          <p:nvPr/>
        </p:nvSpPr>
        <p:spPr>
          <a:xfrm>
            <a:off x="2514600" y="2560320"/>
            <a:ext cx="1508760" cy="411480"/>
          </a:xfrm>
          <a:prstGeom prst="rect">
            <a:avLst/>
          </a:prstGeom>
          <a:noFill/>
          <a:ln/>
        </p:spPr>
        <p:txBody>
          <a:bodyPr wrap="square" lIns="0" tIns="0" rIns="0" bIns="0" rtlCol="0" anchor="t"/>
          <a:lstStyle/>
          <a:p>
            <a:pPr algn="ctr" indent="0" marL="0">
              <a:buNone/>
            </a:pPr>
            <a:r>
              <a:rPr lang="en-US" sz="1800" b="1" dirty="0">
                <a:solidFill>
                  <a:schemeClr val="tx1"/>
                </a:solidFill>
              </a:rPr>
              <a:t>Detector</a:t>
            </a:r>
            <a:endParaRPr lang="en-US" sz="1800" dirty="0"/>
          </a:p>
        </p:txBody>
      </p:sp>
      <p:sp>
        <p:nvSpPr>
          <p:cNvPr id="13" name="Text 9"/>
          <p:cNvSpPr txBox="1"/>
          <p:nvPr/>
        </p:nvSpPr>
        <p:spPr>
          <a:xfrm>
            <a:off x="2560320" y="3017520"/>
            <a:ext cx="1417320" cy="868680"/>
          </a:xfrm>
          <a:prstGeom prst="rect">
            <a:avLst/>
          </a:prstGeom>
          <a:noFill/>
          <a:ln/>
        </p:spPr>
        <p:txBody>
          <a:bodyPr wrap="square" lIns="0" tIns="0" rIns="0" bIns="0" rtlCol="0" anchor="t"/>
          <a:lstStyle/>
          <a:p>
            <a:pPr algn="ctr" indent="0" marL="0">
              <a:buNone/>
            </a:pPr>
            <a:r>
              <a:rPr lang="en-US" sz="1300" dirty="0">
                <a:solidFill>
                  <a:schemeClr val="tx2"/>
                </a:solidFill>
              </a:rPr>
              <a:t>YOLO11n · conf ≥ 0,05 + NMS</a:t>
            </a:r>
            <a:endParaRPr lang="en-US" sz="1300" dirty="0"/>
          </a:p>
        </p:txBody>
      </p:sp>
      <p:sp>
        <p:nvSpPr>
          <p:cNvPr id="14" name="Flecha 1"/>
          <p:cNvSpPr/>
          <p:nvPr/>
        </p:nvSpPr>
        <p:spPr>
          <a:xfrm rot="5400000">
            <a:off x="4128516" y="2651760"/>
            <a:ext cx="155448" cy="137160"/>
          </a:xfrm>
          <a:prstGeom prst="triangle">
            <a:avLst/>
          </a:prstGeom>
          <a:solidFill>
            <a:schemeClr val="accent5"/>
          </a:solidFill>
          <a:ln/>
        </p:spPr>
      </p:sp>
      <p:sp>
        <p:nvSpPr>
          <p:cNvPr id="15" name="Paso Umbral τ"/>
          <p:cNvSpPr/>
          <p:nvPr/>
        </p:nvSpPr>
        <p:spPr>
          <a:xfrm>
            <a:off x="4297680" y="1463040"/>
            <a:ext cx="1691640" cy="2514600"/>
          </a:xfrm>
          <a:prstGeom prst="roundRect">
            <a:avLst>
              <a:gd name="adj" fmla="val 4324"/>
            </a:avLst>
          </a:prstGeom>
          <a:solidFill>
            <a:schemeClr val="bg2"/>
          </a:solidFill>
          <a:ln/>
        </p:spPr>
      </p:sp>
      <p:sp>
        <p:nvSpPr>
          <p:cNvPr id="16" name="Paso Umbral τ círculo"/>
          <p:cNvSpPr/>
          <p:nvPr/>
        </p:nvSpPr>
        <p:spPr>
          <a:xfrm>
            <a:off x="4777740" y="1691640"/>
            <a:ext cx="731520" cy="731520"/>
          </a:xfrm>
          <a:prstGeom prst="ellipse">
            <a:avLst/>
          </a:prstGeom>
          <a:solidFill>
            <a:schemeClr val="accent5"/>
          </a:solidFill>
          <a:ln/>
        </p:spPr>
      </p:sp>
      <p:pic>
        <p:nvPicPr>
          <p:cNvPr id="17" name="Paso Umbral τ ícono" descr="preencoded.png">    </p:cNvPr>
          <p:cNvPicPr>
            <a:picLocks noChangeAspect="1"/>
          </p:cNvPicPr>
          <p:nvPr/>
        </p:nvPicPr>
        <p:blipFill>
          <a:blip r:embed="rId3"/>
          <a:stretch>
            <a:fillRect/>
          </a:stretch>
        </p:blipFill>
        <p:spPr>
          <a:xfrm>
            <a:off x="4960620" y="1874520"/>
            <a:ext cx="365760" cy="365760"/>
          </a:xfrm>
          <a:prstGeom prst="rect">
            <a:avLst/>
          </a:prstGeom>
        </p:spPr>
      </p:pic>
      <p:sp>
        <p:nvSpPr>
          <p:cNvPr id="18" name="Text 13"/>
          <p:cNvSpPr txBox="1"/>
          <p:nvPr/>
        </p:nvSpPr>
        <p:spPr>
          <a:xfrm>
            <a:off x="4389120" y="2560320"/>
            <a:ext cx="1508760" cy="411480"/>
          </a:xfrm>
          <a:prstGeom prst="rect">
            <a:avLst/>
          </a:prstGeom>
          <a:noFill/>
          <a:ln/>
        </p:spPr>
        <p:txBody>
          <a:bodyPr wrap="square" lIns="0" tIns="0" rIns="0" bIns="0" rtlCol="0" anchor="t"/>
          <a:lstStyle/>
          <a:p>
            <a:pPr algn="ctr" indent="0" marL="0">
              <a:buNone/>
            </a:pPr>
            <a:r>
              <a:rPr lang="en-US" sz="1800" b="1" dirty="0">
                <a:solidFill>
                  <a:schemeClr val="tx1"/>
                </a:solidFill>
              </a:rPr>
              <a:t>Umbral τ</a:t>
            </a:r>
            <a:endParaRPr lang="en-US" sz="1800" dirty="0"/>
          </a:p>
        </p:txBody>
      </p:sp>
      <p:sp>
        <p:nvSpPr>
          <p:cNvPr id="19" name="Text 14"/>
          <p:cNvSpPr txBox="1"/>
          <p:nvPr/>
        </p:nvSpPr>
        <p:spPr>
          <a:xfrm>
            <a:off x="4434840" y="3017520"/>
            <a:ext cx="1417320" cy="868680"/>
          </a:xfrm>
          <a:prstGeom prst="rect">
            <a:avLst/>
          </a:prstGeom>
          <a:noFill/>
          <a:ln/>
        </p:spPr>
        <p:txBody>
          <a:bodyPr wrap="square" lIns="0" tIns="0" rIns="0" bIns="0" rtlCol="0" anchor="t"/>
          <a:lstStyle/>
          <a:p>
            <a:pPr algn="ctr" indent="0" marL="0">
              <a:buNone/>
            </a:pPr>
            <a:r>
              <a:rPr lang="en-US" sz="1300" dirty="0">
                <a:solidFill>
                  <a:schemeClr val="tx2"/>
                </a:solidFill>
              </a:rPr>
              <a:t>τ = 0,4 decide qué cuenta</a:t>
            </a:r>
            <a:endParaRPr lang="en-US" sz="1300" dirty="0"/>
          </a:p>
        </p:txBody>
      </p:sp>
      <p:sp>
        <p:nvSpPr>
          <p:cNvPr id="20" name="Flecha 2"/>
          <p:cNvSpPr/>
          <p:nvPr/>
        </p:nvSpPr>
        <p:spPr>
          <a:xfrm rot="5400000">
            <a:off x="6003036" y="2651760"/>
            <a:ext cx="155448" cy="137160"/>
          </a:xfrm>
          <a:prstGeom prst="triangle">
            <a:avLst/>
          </a:prstGeom>
          <a:solidFill>
            <a:schemeClr val="accent5"/>
          </a:solidFill>
          <a:ln/>
        </p:spPr>
      </p:sp>
      <p:sp>
        <p:nvSpPr>
          <p:cNvPr id="21" name="Paso Clasificador"/>
          <p:cNvSpPr/>
          <p:nvPr/>
        </p:nvSpPr>
        <p:spPr>
          <a:xfrm>
            <a:off x="6172200" y="1463040"/>
            <a:ext cx="1691640" cy="2514600"/>
          </a:xfrm>
          <a:prstGeom prst="roundRect">
            <a:avLst>
              <a:gd name="adj" fmla="val 4324"/>
            </a:avLst>
          </a:prstGeom>
          <a:solidFill>
            <a:schemeClr val="bg2"/>
          </a:solidFill>
          <a:ln/>
        </p:spPr>
      </p:sp>
      <p:sp>
        <p:nvSpPr>
          <p:cNvPr id="22" name="Paso Clasificador círculo"/>
          <p:cNvSpPr/>
          <p:nvPr/>
        </p:nvSpPr>
        <p:spPr>
          <a:xfrm>
            <a:off x="6652260" y="1691640"/>
            <a:ext cx="731520" cy="731520"/>
          </a:xfrm>
          <a:prstGeom prst="ellipse">
            <a:avLst/>
          </a:prstGeom>
          <a:solidFill>
            <a:schemeClr val="accent1"/>
          </a:solidFill>
          <a:ln/>
        </p:spPr>
      </p:sp>
      <p:pic>
        <p:nvPicPr>
          <p:cNvPr id="23" name="Paso Clasificador ícono" descr="preencoded.png">    </p:cNvPr>
          <p:cNvPicPr>
            <a:picLocks noChangeAspect="1"/>
          </p:cNvPicPr>
          <p:nvPr/>
        </p:nvPicPr>
        <p:blipFill>
          <a:blip r:embed="rId4"/>
          <a:stretch>
            <a:fillRect/>
          </a:stretch>
        </p:blipFill>
        <p:spPr>
          <a:xfrm>
            <a:off x="6835140" y="1874520"/>
            <a:ext cx="365760" cy="365760"/>
          </a:xfrm>
          <a:prstGeom prst="rect">
            <a:avLst/>
          </a:prstGeom>
        </p:spPr>
      </p:pic>
      <p:sp>
        <p:nvSpPr>
          <p:cNvPr id="24" name="Text 18"/>
          <p:cNvSpPr txBox="1"/>
          <p:nvPr/>
        </p:nvSpPr>
        <p:spPr>
          <a:xfrm>
            <a:off x="6263640" y="2560320"/>
            <a:ext cx="1508760" cy="411480"/>
          </a:xfrm>
          <a:prstGeom prst="rect">
            <a:avLst/>
          </a:prstGeom>
          <a:noFill/>
          <a:ln/>
        </p:spPr>
        <p:txBody>
          <a:bodyPr wrap="square" lIns="0" tIns="0" rIns="0" bIns="0" rtlCol="0" anchor="t"/>
          <a:lstStyle/>
          <a:p>
            <a:pPr algn="ctr" indent="0" marL="0">
              <a:buNone/>
            </a:pPr>
            <a:r>
              <a:rPr lang="en-US" sz="1800" b="1" dirty="0">
                <a:solidFill>
                  <a:schemeClr val="tx1"/>
                </a:solidFill>
              </a:rPr>
              <a:t>Clasificador</a:t>
            </a:r>
            <a:endParaRPr lang="en-US" sz="1800" dirty="0"/>
          </a:p>
        </p:txBody>
      </p:sp>
      <p:sp>
        <p:nvSpPr>
          <p:cNvPr id="25" name="Text 19"/>
          <p:cNvSpPr txBox="1"/>
          <p:nvPr/>
        </p:nvSpPr>
        <p:spPr>
          <a:xfrm>
            <a:off x="6309360" y="3017520"/>
            <a:ext cx="1417320" cy="868680"/>
          </a:xfrm>
          <a:prstGeom prst="rect">
            <a:avLst/>
          </a:prstGeom>
          <a:noFill/>
          <a:ln/>
        </p:spPr>
        <p:txBody>
          <a:bodyPr wrap="square" lIns="0" tIns="0" rIns="0" bIns="0" rtlCol="0" anchor="t"/>
          <a:lstStyle/>
          <a:p>
            <a:pPr algn="ctr" indent="0" marL="0">
              <a:buNone/>
            </a:pPr>
            <a:r>
              <a:rPr lang="en-US" sz="1300" dirty="0">
                <a:solidFill>
                  <a:schemeClr val="tx2"/>
                </a:solidFill>
              </a:rPr>
              <a:t>yolo11n-cls 224 px · p_real ≥ 0,5</a:t>
            </a:r>
            <a:endParaRPr lang="en-US" sz="1300" dirty="0"/>
          </a:p>
        </p:txBody>
      </p:sp>
      <p:sp>
        <p:nvSpPr>
          <p:cNvPr id="26" name="Flecha 3"/>
          <p:cNvSpPr/>
          <p:nvPr/>
        </p:nvSpPr>
        <p:spPr>
          <a:xfrm rot="5400000">
            <a:off x="7877556" y="2651760"/>
            <a:ext cx="155448" cy="137160"/>
          </a:xfrm>
          <a:prstGeom prst="triangle">
            <a:avLst/>
          </a:prstGeom>
          <a:solidFill>
            <a:schemeClr val="accent5"/>
          </a:solidFill>
          <a:ln/>
        </p:spPr>
      </p:sp>
      <p:sp>
        <p:nvSpPr>
          <p:cNvPr id="27" name="Paso K-de-N"/>
          <p:cNvSpPr/>
          <p:nvPr/>
        </p:nvSpPr>
        <p:spPr>
          <a:xfrm>
            <a:off x="8046720" y="1463040"/>
            <a:ext cx="1691640" cy="2514600"/>
          </a:xfrm>
          <a:prstGeom prst="roundRect">
            <a:avLst>
              <a:gd name="adj" fmla="val 4324"/>
            </a:avLst>
          </a:prstGeom>
          <a:solidFill>
            <a:schemeClr val="bg2"/>
          </a:solidFill>
          <a:ln/>
        </p:spPr>
      </p:sp>
      <p:sp>
        <p:nvSpPr>
          <p:cNvPr id="28" name="Paso K-de-N círculo"/>
          <p:cNvSpPr/>
          <p:nvPr/>
        </p:nvSpPr>
        <p:spPr>
          <a:xfrm>
            <a:off x="8526780" y="1691640"/>
            <a:ext cx="731520" cy="731520"/>
          </a:xfrm>
          <a:prstGeom prst="ellipse">
            <a:avLst/>
          </a:prstGeom>
          <a:solidFill>
            <a:schemeClr val="accent1"/>
          </a:solidFill>
          <a:ln/>
        </p:spPr>
      </p:sp>
      <p:pic>
        <p:nvPicPr>
          <p:cNvPr id="29" name="Paso K-de-N ícono" descr="preencoded.png">    </p:cNvPr>
          <p:cNvPicPr>
            <a:picLocks noChangeAspect="1"/>
          </p:cNvPicPr>
          <p:nvPr/>
        </p:nvPicPr>
        <p:blipFill>
          <a:blip r:embed="rId5"/>
          <a:stretch>
            <a:fillRect/>
          </a:stretch>
        </p:blipFill>
        <p:spPr>
          <a:xfrm>
            <a:off x="8709660" y="1874520"/>
            <a:ext cx="365760" cy="365760"/>
          </a:xfrm>
          <a:prstGeom prst="rect">
            <a:avLst/>
          </a:prstGeom>
        </p:spPr>
      </p:pic>
      <p:sp>
        <p:nvSpPr>
          <p:cNvPr id="30" name="Text 23"/>
          <p:cNvSpPr txBox="1"/>
          <p:nvPr/>
        </p:nvSpPr>
        <p:spPr>
          <a:xfrm>
            <a:off x="8138160" y="2560320"/>
            <a:ext cx="1508760" cy="411480"/>
          </a:xfrm>
          <a:prstGeom prst="rect">
            <a:avLst/>
          </a:prstGeom>
          <a:noFill/>
          <a:ln/>
        </p:spPr>
        <p:txBody>
          <a:bodyPr wrap="square" lIns="0" tIns="0" rIns="0" bIns="0" rtlCol="0" anchor="t"/>
          <a:lstStyle/>
          <a:p>
            <a:pPr algn="ctr" indent="0" marL="0">
              <a:buNone/>
            </a:pPr>
            <a:r>
              <a:rPr lang="en-US" sz="1800" b="1" dirty="0">
                <a:solidFill>
                  <a:schemeClr val="tx1"/>
                </a:solidFill>
              </a:rPr>
              <a:t>K-de-N</a:t>
            </a:r>
            <a:endParaRPr lang="en-US" sz="1800" dirty="0"/>
          </a:p>
        </p:txBody>
      </p:sp>
      <p:sp>
        <p:nvSpPr>
          <p:cNvPr id="31" name="Text 24"/>
          <p:cNvSpPr txBox="1"/>
          <p:nvPr/>
        </p:nvSpPr>
        <p:spPr>
          <a:xfrm>
            <a:off x="8183880" y="3017520"/>
            <a:ext cx="1417320" cy="868680"/>
          </a:xfrm>
          <a:prstGeom prst="rect">
            <a:avLst/>
          </a:prstGeom>
          <a:noFill/>
          <a:ln/>
        </p:spPr>
        <p:txBody>
          <a:bodyPr wrap="square" lIns="0" tIns="0" rIns="0" bIns="0" rtlCol="0" anchor="t"/>
          <a:lstStyle/>
          <a:p>
            <a:pPr algn="ctr" indent="0" marL="0">
              <a:buNone/>
            </a:pPr>
            <a:r>
              <a:rPr lang="en-US" sz="1300" dirty="0">
                <a:solidFill>
                  <a:schemeClr val="tx2"/>
                </a:solidFill>
              </a:rPr>
              <a:t>3 de los últimos 5 frames, por clase</a:t>
            </a:r>
            <a:endParaRPr lang="en-US" sz="1300" dirty="0"/>
          </a:p>
        </p:txBody>
      </p:sp>
      <p:sp>
        <p:nvSpPr>
          <p:cNvPr id="32" name="Flecha 4"/>
          <p:cNvSpPr/>
          <p:nvPr/>
        </p:nvSpPr>
        <p:spPr>
          <a:xfrm rot="5400000">
            <a:off x="9752076" y="2651760"/>
            <a:ext cx="155448" cy="137160"/>
          </a:xfrm>
          <a:prstGeom prst="triangle">
            <a:avLst/>
          </a:prstGeom>
          <a:solidFill>
            <a:schemeClr val="accent5"/>
          </a:solidFill>
          <a:ln/>
        </p:spPr>
      </p:sp>
      <p:sp>
        <p:nvSpPr>
          <p:cNvPr id="33" name="Paso Alerta"/>
          <p:cNvSpPr/>
          <p:nvPr/>
        </p:nvSpPr>
        <p:spPr>
          <a:xfrm>
            <a:off x="9921240" y="1463040"/>
            <a:ext cx="1691640" cy="2514600"/>
          </a:xfrm>
          <a:prstGeom prst="roundRect">
            <a:avLst>
              <a:gd name="adj" fmla="val 4324"/>
            </a:avLst>
          </a:prstGeom>
          <a:solidFill>
            <a:schemeClr val="accent1"/>
          </a:solidFill>
          <a:ln/>
        </p:spPr>
      </p:sp>
      <p:sp>
        <p:nvSpPr>
          <p:cNvPr id="34" name="Paso Alerta círculo"/>
          <p:cNvSpPr/>
          <p:nvPr/>
        </p:nvSpPr>
        <p:spPr>
          <a:xfrm>
            <a:off x="10401300" y="1691640"/>
            <a:ext cx="731520" cy="731520"/>
          </a:xfrm>
          <a:prstGeom prst="ellipse">
            <a:avLst/>
          </a:prstGeom>
          <a:solidFill>
            <a:schemeClr val="tx1"/>
          </a:solidFill>
          <a:ln/>
        </p:spPr>
      </p:sp>
      <p:pic>
        <p:nvPicPr>
          <p:cNvPr id="35" name="Paso Alerta ícono" descr="preencoded.png">    </p:cNvPr>
          <p:cNvPicPr>
            <a:picLocks noChangeAspect="1"/>
          </p:cNvPicPr>
          <p:nvPr/>
        </p:nvPicPr>
        <p:blipFill>
          <a:blip r:embed="rId6"/>
          <a:stretch>
            <a:fillRect/>
          </a:stretch>
        </p:blipFill>
        <p:spPr>
          <a:xfrm>
            <a:off x="10584180" y="1874520"/>
            <a:ext cx="365760" cy="365760"/>
          </a:xfrm>
          <a:prstGeom prst="rect">
            <a:avLst/>
          </a:prstGeom>
        </p:spPr>
      </p:pic>
      <p:sp>
        <p:nvSpPr>
          <p:cNvPr id="36" name="Text 28"/>
          <p:cNvSpPr txBox="1"/>
          <p:nvPr/>
        </p:nvSpPr>
        <p:spPr>
          <a:xfrm>
            <a:off x="10012680" y="2560320"/>
            <a:ext cx="1508760" cy="411480"/>
          </a:xfrm>
          <a:prstGeom prst="rect">
            <a:avLst/>
          </a:prstGeom>
          <a:noFill/>
          <a:ln/>
        </p:spPr>
        <p:txBody>
          <a:bodyPr wrap="square" lIns="0" tIns="0" rIns="0" bIns="0" rtlCol="0" anchor="t"/>
          <a:lstStyle/>
          <a:p>
            <a:pPr algn="ctr" indent="0" marL="0">
              <a:buNone/>
            </a:pPr>
            <a:r>
              <a:rPr lang="en-US" sz="1800" b="1" dirty="0">
                <a:solidFill>
                  <a:schemeClr val="bg1"/>
                </a:solidFill>
              </a:rPr>
              <a:t>Alerta</a:t>
            </a:r>
            <a:endParaRPr lang="en-US" sz="1800" dirty="0"/>
          </a:p>
        </p:txBody>
      </p:sp>
      <p:sp>
        <p:nvSpPr>
          <p:cNvPr id="37" name="Text 29"/>
          <p:cNvSpPr txBox="1"/>
          <p:nvPr/>
        </p:nvSpPr>
        <p:spPr>
          <a:xfrm>
            <a:off x="10058400" y="3017520"/>
            <a:ext cx="1417320" cy="868680"/>
          </a:xfrm>
          <a:prstGeom prst="rect">
            <a:avLst/>
          </a:prstGeom>
          <a:noFill/>
          <a:ln/>
        </p:spPr>
        <p:txBody>
          <a:bodyPr wrap="square" lIns="0" tIns="0" rIns="0" bIns="0" rtlCol="0" anchor="t"/>
          <a:lstStyle/>
          <a:p>
            <a:pPr algn="ctr" indent="0" marL="0">
              <a:buNone/>
            </a:pPr>
            <a:r>
              <a:rPr lang="en-US" sz="1300" dirty="0">
                <a:solidFill>
                  <a:schemeClr val="bg1"/>
                </a:solidFill>
              </a:rPr>
              <a:t>NORMAL → PRE-ALERTA → ALERTA</a:t>
            </a:r>
            <a:endParaRPr lang="en-US" sz="1300" dirty="0"/>
          </a:p>
        </p:txBody>
      </p:sp>
      <p:sp>
        <p:nvSpPr>
          <p:cNvPr id="38" name="Tarjeta entrenamiento"/>
          <p:cNvSpPr/>
          <p:nvPr/>
        </p:nvSpPr>
        <p:spPr>
          <a:xfrm>
            <a:off x="548640" y="4343400"/>
            <a:ext cx="11064240" cy="1508760"/>
          </a:xfrm>
          <a:prstGeom prst="roundRect">
            <a:avLst>
              <a:gd name="adj" fmla="val 4848"/>
            </a:avLst>
          </a:prstGeom>
          <a:solidFill>
            <a:schemeClr val="bg2"/>
          </a:solidFill>
          <a:ln/>
        </p:spPr>
      </p:sp>
      <p:sp>
        <p:nvSpPr>
          <p:cNvPr id="39" name="Text 31"/>
          <p:cNvSpPr txBox="1"/>
          <p:nvPr/>
        </p:nvSpPr>
        <p:spPr>
          <a:xfrm>
            <a:off x="822960" y="4526280"/>
            <a:ext cx="2743200" cy="365760"/>
          </a:xfrm>
          <a:prstGeom prst="rect">
            <a:avLst/>
          </a:prstGeom>
          <a:noFill/>
          <a:ln/>
        </p:spPr>
        <p:txBody>
          <a:bodyPr wrap="square" lIns="0" tIns="0" rIns="0" bIns="0" rtlCol="0" anchor="t"/>
          <a:lstStyle/>
          <a:p>
            <a:pPr indent="0" marL="0">
              <a:buNone/>
            </a:pPr>
            <a:r>
              <a:rPr lang="en-US" sz="1600" b="1" dirty="0">
                <a:solidFill>
                  <a:schemeClr val="tx1"/>
                </a:solidFill>
              </a:rPr>
              <a:t>Cómo se entrenó</a:t>
            </a:r>
            <a:endParaRPr lang="en-US" sz="1600" dirty="0"/>
          </a:p>
        </p:txBody>
      </p:sp>
      <p:sp>
        <p:nvSpPr>
          <p:cNvPr id="40" name="Text 32"/>
          <p:cNvSpPr txBox="1"/>
          <p:nvPr/>
        </p:nvSpPr>
        <p:spPr>
          <a:xfrm>
            <a:off x="822960" y="4937760"/>
            <a:ext cx="10515600" cy="1097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Detector: fine-tuning de YOLO11 preentrenado en COCO · 50 épocas, batch 16, seed 42 · mosaic, HSV, flip y escala solo en train</a:t>
            </a:r>
            <a:endParaRPr lang="en-US" sz="1500" dirty="0"/>
          </a:p>
          <a:p>
            <a:pPr marL="342900" indent="-342900">
              <a:spcAft>
                <a:spcPts val="800"/>
              </a:spcAft>
              <a:buSzPct val="100000"/>
              <a:buChar char="•"/>
            </a:pPr>
            <a:r>
              <a:rPr lang="en-US" sz="1400" dirty="0">
                <a:solidFill>
                  <a:schemeClr val="tx1"/>
                </a:solidFill>
              </a:rPr>
              <a:t>Clasificador: positivos = cajas anotadas; negativos = falsos positivos de R5 sobre las 6.458 negativas de train (errores «de escena nueva»)</a:t>
            </a:r>
            <a:endParaRPr lang="en-US" sz="15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8716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377440"/>
            <a:ext cx="10515600" cy="1188720"/>
          </a:xfrm>
          <a:prstGeom prst="rect">
            <a:avLst/>
          </a:prstGeom>
          <a:noFill/>
          <a:ln/>
        </p:spPr>
        <p:txBody>
          <a:bodyPr wrap="square" lIns="0" tIns="0" rIns="0" bIns="0" rtlCol="0" anchor="b"/>
          <a:lstStyle/>
          <a:p>
            <a:pPr algn="l" indent="0" marL="0">
              <a:buNone/>
            </a:pPr>
            <a:r>
              <a:rPr lang="en-US" sz="4400" b="1" dirty="0">
                <a:solidFill>
                  <a:schemeClr val="bg1"/>
                </a:solidFill>
              </a:rPr>
              <a:t>Resultados</a:t>
            </a:r>
            <a:endParaRPr lang="en-US" sz="4400" dirty="0"/>
          </a:p>
        </p:txBody>
      </p:sp>
      <p:sp>
        <p:nvSpPr>
          <p:cNvPr id="3" name="Text 0"/>
          <p:cNvSpPr/>
          <p:nvPr>
            <p:ph idx="101" type="body" hasCustomPrompt="1"/>
          </p:nvPr>
        </p:nvSpPr>
        <p:spPr>
          <a:xfrm>
            <a:off x="822960" y="3749040"/>
            <a:ext cx="10515600" cy="1097280"/>
          </a:xfrm>
          <a:prstGeom prst="rect">
            <a:avLst/>
          </a:prstGeom>
          <a:noFill/>
          <a:ln/>
        </p:spPr>
        <p:txBody>
          <a:bodyPr wrap="square" lIns="0" tIns="0" rIns="0" bIns="0" rtlCol="0" anchor="t"/>
          <a:lstStyle/>
          <a:p>
            <a:pPr indent="0" marL="0">
              <a:buNone/>
            </a:pPr>
            <a:r>
              <a:rPr lang="en-US" sz="2000" dirty="0">
                <a:solidFill>
                  <a:srgbClr val="D6D3D1"/>
                </a:solidFill>
              </a:rPr>
              <a:t>4 detectores · 1 clasificador · entrenados en Colab (NVIDIA L4) · latencia medida en CPU Intel Core i7 13.ª gen</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El modelo nano a 640 px es el mejor equilibrio para CPU</a:t>
            </a:r>
            <a:endParaRPr lang="en-US" sz="3000" dirty="0"/>
          </a:p>
        </p:txBody>
      </p:sp>
      <p:graphicFrame>
        <p:nvGraphicFramePr>
          <p:cNvPr id="3" name="Gráfico tradeoff" descr=""/>
          <p:cNvGraphicFramePr/>
          <p:nvPr/>
        </p:nvGraphicFramePr>
        <p:xfrm>
          <a:off x="548640" y="1371600"/>
          <a:ext cx="6217920" cy="475488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Tabla detectores"/>
          <p:cNvGraphicFramePr>
            <a:graphicFrameLocks noGrp="1"/>
          </p:cNvGraphicFramePr>
          <p:nvPr>
            <p:extLst>
              <p:ext uri="{D42A27DB-BD31-4B8C-83A1-F6EECF244321}">
                <p14:modId xmlns:p14="http://schemas.microsoft.com/office/powerpoint/2010/main" val="1579011935"/>
              </p:ext>
            </p:extLst>
          </p:nvPr>
        </p:nvGraphicFramePr>
        <p:xfrm>
          <a:off x="7132320" y="1463040"/>
          <a:ext cx="4480560" cy="914400"/>
        </p:xfrm>
        <a:graphic>
          <a:graphicData uri="http://schemas.openxmlformats.org/drawingml/2006/table">
            <a:tbl>
              <a:tblPr/>
              <a:tblGrid>
                <a:gridCol w="548640"/>
                <a:gridCol w="1463040"/>
                <a:gridCol w="777240"/>
                <a:gridCol w="914400"/>
                <a:gridCol w="777240"/>
              </a:tblGrid>
              <a:tr h="384048">
                <a:tc>
                  <a:txBody>
                    <a:bodyPr/>
                    <a:lstStyle/>
                    <a:p>
                      <a:pPr algn="l" indent="0" marL="0">
                        <a:buNone/>
                      </a:pPr>
                      <a:r>
                        <a:rPr lang="en-US" sz="1300" b="1" dirty="0">
                          <a:solidFill>
                            <a:schemeClr val="bg1"/>
                          </a:solidFill>
                          <a:latin typeface="Calibri" pitchFamily="34" charset="0"/>
                          <a:ea typeface="Calibri" pitchFamily="34" charset="-122"/>
                          <a:cs typeface="Calibri" pitchFamily="34" charset="-120"/>
                        </a:rPr>
                        <a:t>Run</a:t>
                      </a:r>
                      <a:endParaRPr lang="en-US" sz="13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chemeClr val="tx1"/>
                    </a:solidFill>
                  </a:tcPr>
                </a:tc>
                <a:tc>
                  <a:txBody>
                    <a:bodyPr/>
                    <a:lstStyle/>
                    <a:p>
                      <a:pPr algn="l" indent="0" marL="0">
                        <a:buNone/>
                      </a:pPr>
                      <a:r>
                        <a:rPr lang="en-US" sz="1300" b="1" dirty="0">
                          <a:solidFill>
                            <a:schemeClr val="bg1"/>
                          </a:solidFill>
                          <a:latin typeface="Calibri" pitchFamily="34" charset="0"/>
                          <a:ea typeface="Calibri" pitchFamily="34" charset="-122"/>
                          <a:cs typeface="Calibri" pitchFamily="34" charset="-120"/>
                        </a:rPr>
                        <a:t>Config.</a:t>
                      </a:r>
                      <a:endParaRPr lang="en-US" sz="13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chemeClr val="tx1"/>
                    </a:solidFill>
                  </a:tcPr>
                </a:tc>
                <a:tc>
                  <a:txBody>
                    <a:bodyPr/>
                    <a:lstStyle/>
                    <a:p>
                      <a:pPr algn="r" indent="0" marL="0">
                        <a:buNone/>
                      </a:pPr>
                      <a:r>
                        <a:rPr lang="en-US" sz="1300" b="1" dirty="0">
                          <a:solidFill>
                            <a:schemeClr val="bg1"/>
                          </a:solidFill>
                          <a:latin typeface="Calibri" pitchFamily="34" charset="0"/>
                          <a:ea typeface="Calibri" pitchFamily="34" charset="-122"/>
                          <a:cs typeface="Calibri" pitchFamily="34" charset="-120"/>
                        </a:rPr>
                        <a:t>mAP50</a:t>
                      </a:r>
                      <a:endParaRPr lang="en-US" sz="13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chemeClr val="tx1"/>
                    </a:solidFill>
                  </a:tcPr>
                </a:tc>
                <a:tc>
                  <a:txBody>
                    <a:bodyPr/>
                    <a:lstStyle/>
                    <a:p>
                      <a:pPr algn="r" indent="0" marL="0">
                        <a:buNone/>
                      </a:pPr>
                      <a:r>
                        <a:rPr lang="en-US" sz="1300" b="1" dirty="0">
                          <a:solidFill>
                            <a:schemeClr val="bg1"/>
                          </a:solidFill>
                          <a:latin typeface="Calibri" pitchFamily="34" charset="0"/>
                          <a:ea typeface="Calibri" pitchFamily="34" charset="-122"/>
                          <a:cs typeface="Calibri" pitchFamily="34" charset="-120"/>
                        </a:rPr>
                        <a:t>mAP50-95</a:t>
                      </a:r>
                      <a:endParaRPr lang="en-US" sz="13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chemeClr val="tx1"/>
                    </a:solidFill>
                  </a:tcPr>
                </a:tc>
                <a:tc>
                  <a:txBody>
                    <a:bodyPr/>
                    <a:lstStyle/>
                    <a:p>
                      <a:pPr algn="r" indent="0" marL="0">
                        <a:buNone/>
                      </a:pPr>
                      <a:r>
                        <a:rPr lang="en-US" sz="1300" b="1" dirty="0">
                          <a:solidFill>
                            <a:schemeClr val="bg1"/>
                          </a:solidFill>
                          <a:latin typeface="Calibri" pitchFamily="34" charset="0"/>
                          <a:ea typeface="Calibri" pitchFamily="34" charset="-122"/>
                          <a:cs typeface="Calibri" pitchFamily="34" charset="-120"/>
                        </a:rPr>
                        <a:t>CPU ms</a:t>
                      </a:r>
                      <a:endParaRPr lang="en-US" sz="13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chemeClr val="tx1"/>
                    </a:solidFill>
                  </a:tcPr>
                </a:tc>
              </a:tr>
              <a:tr h="384048">
                <a:tc>
                  <a:txBody>
                    <a:bodyPr/>
                    <a:lstStyle/>
                    <a:p>
                      <a:pPr algn="l" indent="0" marL="0">
                        <a:buNone/>
                      </a:pPr>
                      <a:r>
                        <a:rPr lang="en-US" sz="1300" b="1" dirty="0">
                          <a:solidFill>
                            <a:schemeClr val="tx1"/>
                          </a:solidFill>
                          <a:latin typeface="Calibri" pitchFamily="34" charset="0"/>
                          <a:ea typeface="Calibri" pitchFamily="34" charset="-122"/>
                          <a:cs typeface="Calibri" pitchFamily="34" charset="-120"/>
                        </a:rPr>
                        <a:t>R1</a:t>
                      </a:r>
                      <a:endParaRPr lang="en-US" sz="13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DE7D9"/>
                    </a:solidFill>
                  </a:tcPr>
                </a:tc>
                <a:tc>
                  <a:txBody>
                    <a:bodyPr/>
                    <a:lstStyle/>
                    <a:p>
                      <a:pPr algn="l" indent="0" marL="0">
                        <a:buNone/>
                      </a:pPr>
                      <a:r>
                        <a:rPr lang="en-US" sz="1300" b="1" dirty="0">
                          <a:solidFill>
                            <a:schemeClr val="tx1"/>
                          </a:solidFill>
                          <a:latin typeface="Calibri" pitchFamily="34" charset="0"/>
                          <a:ea typeface="Calibri" pitchFamily="34" charset="-122"/>
                          <a:cs typeface="Calibri" pitchFamily="34" charset="-120"/>
                        </a:rPr>
                        <a:t>n · 640</a:t>
                      </a:r>
                      <a:endParaRPr lang="en-US" sz="13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DE7D9"/>
                    </a:solidFill>
                  </a:tcPr>
                </a:tc>
                <a:tc>
                  <a:txBody>
                    <a:bodyPr/>
                    <a:lstStyle/>
                    <a:p>
                      <a:pPr algn="r" indent="0" marL="0">
                        <a:buNone/>
                      </a:pPr>
                      <a:r>
                        <a:rPr lang="en-US" sz="1300" b="1" dirty="0">
                          <a:solidFill>
                            <a:schemeClr val="tx1"/>
                          </a:solidFill>
                          <a:latin typeface="Calibri" pitchFamily="34" charset="0"/>
                          <a:ea typeface="Calibri" pitchFamily="34" charset="-122"/>
                          <a:cs typeface="Calibri" pitchFamily="34" charset="-120"/>
                        </a:rPr>
                        <a:t>0,759</a:t>
                      </a:r>
                      <a:endParaRPr lang="en-US" sz="13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DE7D9"/>
                    </a:solidFill>
                  </a:tcPr>
                </a:tc>
                <a:tc>
                  <a:txBody>
                    <a:bodyPr/>
                    <a:lstStyle/>
                    <a:p>
                      <a:pPr algn="r" indent="0" marL="0">
                        <a:buNone/>
                      </a:pPr>
                      <a:r>
                        <a:rPr lang="en-US" sz="1300" b="1" dirty="0">
                          <a:solidFill>
                            <a:schemeClr val="tx1"/>
                          </a:solidFill>
                          <a:latin typeface="Calibri" pitchFamily="34" charset="0"/>
                          <a:ea typeface="Calibri" pitchFamily="34" charset="-122"/>
                          <a:cs typeface="Calibri" pitchFamily="34" charset="-120"/>
                        </a:rPr>
                        <a:t>0,434</a:t>
                      </a:r>
                      <a:endParaRPr lang="en-US" sz="13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DE7D9"/>
                    </a:solidFill>
                  </a:tcPr>
                </a:tc>
                <a:tc>
                  <a:txBody>
                    <a:bodyPr/>
                    <a:lstStyle/>
                    <a:p>
                      <a:pPr algn="r" indent="0" marL="0">
                        <a:buNone/>
                      </a:pPr>
                      <a:r>
                        <a:rPr lang="en-US" sz="1300" b="1" dirty="0">
                          <a:solidFill>
                            <a:schemeClr val="tx1"/>
                          </a:solidFill>
                          <a:latin typeface="Calibri" pitchFamily="34" charset="0"/>
                          <a:ea typeface="Calibri" pitchFamily="34" charset="-122"/>
                          <a:cs typeface="Calibri" pitchFamily="34" charset="-120"/>
                        </a:rPr>
                        <a:t>56</a:t>
                      </a:r>
                      <a:endParaRPr lang="en-US" sz="13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DE7D9"/>
                    </a:solidFill>
                  </a:tcPr>
                </a:tc>
              </a:tr>
              <a:tr h="384048">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R3</a:t>
                      </a:r>
                      <a:endParaRPr lang="en-US" sz="13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m · 640</a:t>
                      </a:r>
                      <a:endParaRPr lang="en-US" sz="13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0,779</a:t>
                      </a:r>
                      <a:endParaRPr lang="en-US" sz="13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0,455</a:t>
                      </a:r>
                      <a:endParaRPr lang="en-US" sz="13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299</a:t>
                      </a:r>
                      <a:endParaRPr lang="en-US" sz="13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R4</a:t>
                      </a:r>
                      <a:endParaRPr lang="en-US" sz="13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n · 960</a:t>
                      </a:r>
                      <a:endParaRPr lang="en-US" sz="13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0,773</a:t>
                      </a:r>
                      <a:endParaRPr lang="en-US" sz="13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0,444</a:t>
                      </a:r>
                      <a:endParaRPr lang="en-US" sz="13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92</a:t>
                      </a:r>
                      <a:endParaRPr lang="en-US" sz="13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R5</a:t>
                      </a:r>
                      <a:endParaRPr lang="en-US" sz="13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n · 640 sin neg</a:t>
                      </a:r>
                      <a:endParaRPr lang="en-US" sz="13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0,699</a:t>
                      </a:r>
                      <a:endParaRPr lang="en-US" sz="13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0,402</a:t>
                      </a:r>
                      <a:endParaRPr lang="en-US" sz="13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55</a:t>
                      </a:r>
                      <a:endParaRPr lang="en-US" sz="13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7132320" y="3703320"/>
            <a:ext cx="4480560" cy="731520"/>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+0,020 mAP50</a:t>
            </a:r>
            <a:endParaRPr lang="en-US" sz="3000" dirty="0"/>
          </a:p>
        </p:txBody>
      </p:sp>
      <p:sp>
        <p:nvSpPr>
          <p:cNvPr id="6" name="Text 2"/>
          <p:cNvSpPr txBox="1"/>
          <p:nvPr/>
        </p:nvSpPr>
        <p:spPr>
          <a:xfrm>
            <a:off x="7132320" y="4507992"/>
            <a:ext cx="4480560" cy="685800"/>
          </a:xfrm>
          <a:prstGeom prst="rect">
            <a:avLst/>
          </a:prstGeom>
          <a:noFill/>
          <a:ln/>
        </p:spPr>
        <p:txBody>
          <a:bodyPr wrap="square" lIns="0" tIns="0" rIns="0" bIns="0" rtlCol="0" anchor="t"/>
          <a:lstStyle/>
          <a:p>
            <a:pPr indent="0" marL="0">
              <a:buNone/>
            </a:pPr>
            <a:r>
              <a:rPr lang="en-US" sz="1400" dirty="0">
                <a:solidFill>
                  <a:schemeClr val="tx2"/>
                </a:solidFill>
              </a:rPr>
              <a:t>es lo que gana el modelo medium, a 5,3× la latencia (de 18 a 3 FPS)</a:t>
            </a:r>
            <a:endParaRPr lang="en-US" sz="1400" dirty="0"/>
          </a:p>
        </p:txBody>
      </p:sp>
      <p:sp>
        <p:nvSpPr>
          <p:cNvPr id="7" name="Text 3"/>
          <p:cNvSpPr txBox="1"/>
          <p:nvPr/>
        </p:nvSpPr>
        <p:spPr>
          <a:xfrm>
            <a:off x="7132320" y="5394960"/>
            <a:ext cx="4480560" cy="365760"/>
          </a:xfrm>
          <a:prstGeom prst="rect">
            <a:avLst/>
          </a:prstGeom>
          <a:noFill/>
          <a:ln/>
        </p:spPr>
        <p:txBody>
          <a:bodyPr wrap="square" lIns="0" tIns="0" rIns="0" bIns="0" rtlCol="0" anchor="t"/>
          <a:lstStyle/>
          <a:p>
            <a:pPr indent="0" marL="0">
              <a:buNone/>
            </a:pPr>
            <a:r>
              <a:rPr lang="en-US" sz="1300" i="1" dirty="0">
                <a:solidFill>
                  <a:schemeClr val="tx2"/>
                </a:solidFill>
              </a:rPr>
              <a:t>GPU L4: 1,0 ms (n) vs 5,9 ms (m) por imagen</a:t>
            </a:r>
            <a:endParaRPr lang="en-US" sz="13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8716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H1: subir a 960 px ayuda poco con el fuego incipiente</a:t>
            </a:r>
            <a:endParaRPr lang="en-US" sz="3000" dirty="0"/>
          </a:p>
        </p:txBody>
      </p:sp>
      <p:graphicFrame>
        <p:nvGraphicFramePr>
          <p:cNvPr id="3" name="Gráfico H1" descr=""/>
          <p:cNvGraphicFramePr/>
          <p:nvPr/>
        </p:nvGraphicFramePr>
        <p:xfrm>
          <a:off x="548640" y="1371600"/>
          <a:ext cx="7132320" cy="47548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138160" y="1463040"/>
            <a:ext cx="3474720" cy="73152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+3,4 pts</a:t>
            </a:r>
            <a:endParaRPr lang="en-US" sz="4000" dirty="0"/>
          </a:p>
        </p:txBody>
      </p:sp>
      <p:sp>
        <p:nvSpPr>
          <p:cNvPr id="5" name="Text 2"/>
          <p:cNvSpPr txBox="1"/>
          <p:nvPr/>
        </p:nvSpPr>
        <p:spPr>
          <a:xfrm>
            <a:off x="8138160" y="2267712"/>
            <a:ext cx="3474720" cy="685800"/>
          </a:xfrm>
          <a:prstGeom prst="rect">
            <a:avLst/>
          </a:prstGeom>
          <a:noFill/>
          <a:ln/>
        </p:spPr>
        <p:txBody>
          <a:bodyPr wrap="square" lIns="0" tIns="0" rIns="0" bIns="0" rtlCol="0" anchor="t"/>
          <a:lstStyle/>
          <a:p>
            <a:pPr indent="0" marL="0">
              <a:buNone/>
            </a:pPr>
            <a:r>
              <a:rPr lang="en-US" sz="1400" dirty="0">
                <a:solidFill>
                  <a:schemeClr val="tx2"/>
                </a:solidFill>
              </a:rPr>
              <a:t>de recall en fuego small (0,405 → 0,439), a 1,65× la latencia</a:t>
            </a:r>
            <a:endParaRPr lang="en-US" sz="1400" dirty="0"/>
          </a:p>
        </p:txBody>
      </p:sp>
      <p:sp>
        <p:nvSpPr>
          <p:cNvPr id="6" name="Text 3"/>
          <p:cNvSpPr txBox="1"/>
          <p:nvPr/>
        </p:nvSpPr>
        <p:spPr>
          <a:xfrm>
            <a:off x="8138160" y="3108960"/>
            <a:ext cx="3474720" cy="73152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&lt; 0,45</a:t>
            </a:r>
            <a:endParaRPr lang="en-US" sz="4000" dirty="0"/>
          </a:p>
        </p:txBody>
      </p:sp>
      <p:sp>
        <p:nvSpPr>
          <p:cNvPr id="7" name="Text 4"/>
          <p:cNvSpPr txBox="1"/>
          <p:nvPr/>
        </p:nvSpPr>
        <p:spPr>
          <a:xfrm>
            <a:off x="8138160" y="3913632"/>
            <a:ext cx="3474720" cy="685800"/>
          </a:xfrm>
          <a:prstGeom prst="rect">
            <a:avLst/>
          </a:prstGeom>
          <a:noFill/>
          <a:ln/>
        </p:spPr>
        <p:txBody>
          <a:bodyPr wrap="square" lIns="0" tIns="0" rIns="0" bIns="0" rtlCol="0" anchor="t"/>
          <a:lstStyle/>
          <a:p>
            <a:pPr indent="0" marL="0">
              <a:buNone/>
            </a:pPr>
            <a:r>
              <a:rPr lang="en-US" sz="1400" dirty="0">
                <a:solidFill>
                  <a:schemeClr val="tx2"/>
                </a:solidFill>
              </a:rPr>
              <a:t>recall de fuego chico aun a 960 px: es el cuello de botella del sistema</a:t>
            </a:r>
            <a:endParaRPr lang="en-US" sz="1400" dirty="0"/>
          </a:p>
        </p:txBody>
      </p:sp>
      <p:sp>
        <p:nvSpPr>
          <p:cNvPr id="8" name="Text 5"/>
          <p:cNvSpPr txBox="1"/>
          <p:nvPr/>
        </p:nvSpPr>
        <p:spPr>
          <a:xfrm>
            <a:off x="8138160" y="4892040"/>
            <a:ext cx="3474720" cy="731520"/>
          </a:xfrm>
          <a:prstGeom prst="rect">
            <a:avLst/>
          </a:prstGeom>
          <a:noFill/>
          <a:ln/>
        </p:spPr>
        <p:txBody>
          <a:bodyPr wrap="square" lIns="0" tIns="0" rIns="0" bIns="0" rtlCol="0" anchor="t"/>
          <a:lstStyle/>
          <a:p>
            <a:pPr indent="0" marL="0">
              <a:buNone/>
            </a:pPr>
            <a:r>
              <a:rPr lang="en-US" sz="1400" i="1" dirty="0">
                <a:solidFill>
                  <a:schemeClr val="tx2"/>
                </a:solidFill>
              </a:rPr>
              <a:t>En objetos grandes no mejora: fuego large cae 2,6 pts</a:t>
            </a:r>
            <a:endParaRPr lang="en-US" sz="14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8716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H2: entrenar con negativas reduce 44 veces los falsos positivos</a:t>
            </a:r>
            <a:endParaRPr lang="en-US" sz="3000" dirty="0"/>
          </a:p>
        </p:txBody>
      </p:sp>
      <p:graphicFrame>
        <p:nvGraphicFramePr>
          <p:cNvPr id="3" name="Gráfico H2" descr=""/>
          <p:cNvGraphicFramePr/>
          <p:nvPr/>
        </p:nvGraphicFramePr>
        <p:xfrm>
          <a:off x="548640" y="1371600"/>
          <a:ext cx="6035040" cy="4754880"/>
        </p:xfrm>
        <a:graphic xmlns:a="http://schemas.openxmlformats.org/drawingml/2006/main">
          <a:graphicData uri="http://schemas.openxmlformats.org/drawingml/2006/chart">
            <c:chart xmlns:c="http://schemas.openxmlformats.org/drawingml/2006/chart" r:id="rId1"/>
          </a:graphicData>
        </a:graphic>
      </p:graphicFrame>
      <p:sp>
        <p:nvSpPr>
          <p:cNvPr id="4" name="Tarjeta recall H2"/>
          <p:cNvSpPr/>
          <p:nvPr/>
        </p:nvSpPr>
        <p:spPr>
          <a:xfrm>
            <a:off x="7040880" y="1463040"/>
            <a:ext cx="4572000" cy="3108960"/>
          </a:xfrm>
          <a:prstGeom prst="roundRect">
            <a:avLst>
              <a:gd name="adj" fmla="val 2353"/>
            </a:avLst>
          </a:prstGeom>
          <a:solidFill>
            <a:schemeClr val="bg2"/>
          </a:solidFill>
          <a:ln/>
        </p:spPr>
      </p:sp>
      <p:sp>
        <p:nvSpPr>
          <p:cNvPr id="5" name="Text 2"/>
          <p:cNvSpPr txBox="1"/>
          <p:nvPr/>
        </p:nvSpPr>
        <p:spPr>
          <a:xfrm>
            <a:off x="7315200" y="1691640"/>
            <a:ext cx="4023360" cy="411480"/>
          </a:xfrm>
          <a:prstGeom prst="rect">
            <a:avLst/>
          </a:prstGeom>
          <a:noFill/>
          <a:ln/>
        </p:spPr>
        <p:txBody>
          <a:bodyPr wrap="square" lIns="0" tIns="0" rIns="0" bIns="0" rtlCol="0" anchor="t"/>
          <a:lstStyle/>
          <a:p>
            <a:pPr indent="0" marL="0">
              <a:buNone/>
            </a:pPr>
            <a:r>
              <a:rPr lang="en-US" sz="1800" b="1" dirty="0">
                <a:solidFill>
                  <a:schemeClr val="tx1"/>
                </a:solidFill>
              </a:rPr>
              <a:t>El recall no cambia</a:t>
            </a:r>
            <a:endParaRPr lang="en-US" sz="1800" dirty="0"/>
          </a:p>
        </p:txBody>
      </p:sp>
      <p:graphicFrame>
        <p:nvGraphicFramePr>
          <p:cNvPr id="11" name="Tabla H2"/>
          <p:cNvGraphicFramePr>
            <a:graphicFrameLocks noGrp="1"/>
          </p:cNvGraphicFramePr>
          <p:nvPr>
            <p:extLst>
              <p:ext uri="{D42A27DB-BD31-4B8C-83A1-F6EECF244321}">
                <p14:modId xmlns:p14="http://schemas.microsoft.com/office/powerpoint/2010/main" val="1579011935"/>
              </p:ext>
            </p:extLst>
          </p:nvPr>
        </p:nvGraphicFramePr>
        <p:xfrm>
          <a:off x="7315200" y="2240280"/>
          <a:ext cx="4023360" cy="914400"/>
        </p:xfrm>
        <a:graphic>
          <a:graphicData uri="http://schemas.openxmlformats.org/drawingml/2006/table">
            <a:tbl>
              <a:tblPr/>
              <a:tblGrid>
                <a:gridCol w="1828800"/>
                <a:gridCol w="1097280"/>
                <a:gridCol w="1097280"/>
              </a:tblGrid>
              <a:tr h="457200">
                <a:tc>
                  <a:txBody>
                    <a:bodyPr/>
                    <a:lstStyle/>
                    <a:p>
                      <a:pPr algn="l" indent="0" marL="0">
                        <a:buNone/>
                      </a:pPr>
                      <a:endParaRPr lang="en-US" sz="15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500" b="1" dirty="0">
                          <a:solidFill>
                            <a:schemeClr val="tx1"/>
                          </a:solidFill>
                          <a:latin typeface="Calibri" pitchFamily="34" charset="0"/>
                          <a:ea typeface="Calibri" pitchFamily="34" charset="-122"/>
                          <a:cs typeface="Calibri" pitchFamily="34" charset="-120"/>
                        </a:rPr>
                        <a:t>R5</a:t>
                      </a:r>
                      <a:endParaRPr lang="en-US" sz="15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500" b="1" dirty="0">
                          <a:solidFill>
                            <a:schemeClr val="tx1"/>
                          </a:solidFill>
                          <a:latin typeface="Calibri" pitchFamily="34" charset="0"/>
                          <a:ea typeface="Calibri" pitchFamily="34" charset="-122"/>
                          <a:cs typeface="Calibri" pitchFamily="34" charset="-120"/>
                        </a:rPr>
                        <a:t>R1</a:t>
                      </a:r>
                      <a:endParaRPr lang="en-US" sz="15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500" b="1" dirty="0">
                          <a:solidFill>
                            <a:schemeClr val="tx1"/>
                          </a:solidFill>
                          <a:latin typeface="Calibri" pitchFamily="34" charset="0"/>
                          <a:ea typeface="Calibri" pitchFamily="34" charset="-122"/>
                          <a:cs typeface="Calibri" pitchFamily="34" charset="-120"/>
                        </a:rPr>
                        <a:t>Recall humo</a:t>
                      </a:r>
                      <a:endParaRPr lang="en-US" sz="15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500" dirty="0">
                          <a:solidFill>
                            <a:schemeClr val="tx1"/>
                          </a:solidFill>
                          <a:latin typeface="Calibri" pitchFamily="34" charset="0"/>
                          <a:ea typeface="Calibri" pitchFamily="34" charset="-122"/>
                          <a:cs typeface="Calibri" pitchFamily="34" charset="-120"/>
                        </a:rPr>
                        <a:t>0,737</a:t>
                      </a:r>
                      <a:endParaRPr lang="en-US" sz="15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500" dirty="0">
                          <a:solidFill>
                            <a:schemeClr val="tx1"/>
                          </a:solidFill>
                          <a:latin typeface="Calibri" pitchFamily="34" charset="0"/>
                          <a:ea typeface="Calibri" pitchFamily="34" charset="-122"/>
                          <a:cs typeface="Calibri" pitchFamily="34" charset="-120"/>
                        </a:rPr>
                        <a:t>0,717</a:t>
                      </a:r>
                      <a:endParaRPr lang="en-US" sz="15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500" b="1" dirty="0">
                          <a:solidFill>
                            <a:schemeClr val="tx1"/>
                          </a:solidFill>
                          <a:latin typeface="Calibri" pitchFamily="34" charset="0"/>
                          <a:ea typeface="Calibri" pitchFamily="34" charset="-122"/>
                          <a:cs typeface="Calibri" pitchFamily="34" charset="-120"/>
                        </a:rPr>
                        <a:t>Recall fuego</a:t>
                      </a:r>
                      <a:endParaRPr lang="en-US" sz="15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500" dirty="0">
                          <a:solidFill>
                            <a:schemeClr val="tx1"/>
                          </a:solidFill>
                          <a:latin typeface="Calibri" pitchFamily="34" charset="0"/>
                          <a:ea typeface="Calibri" pitchFamily="34" charset="-122"/>
                          <a:cs typeface="Calibri" pitchFamily="34" charset="-120"/>
                        </a:rPr>
                        <a:t>0,548</a:t>
                      </a:r>
                      <a:endParaRPr lang="en-US" sz="15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500" dirty="0">
                          <a:solidFill>
                            <a:schemeClr val="tx1"/>
                          </a:solidFill>
                          <a:latin typeface="Calibri" pitchFamily="34" charset="0"/>
                          <a:ea typeface="Calibri" pitchFamily="34" charset="-122"/>
                          <a:cs typeface="Calibri" pitchFamily="34" charset="-120"/>
                        </a:rPr>
                        <a:t>0,554</a:t>
                      </a:r>
                      <a:endParaRPr lang="en-US" sz="15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500" b="1" dirty="0">
                          <a:solidFill>
                            <a:schemeClr val="tx1"/>
                          </a:solidFill>
                          <a:latin typeface="Calibri" pitchFamily="34" charset="0"/>
                          <a:ea typeface="Calibri" pitchFamily="34" charset="-122"/>
                          <a:cs typeface="Calibri" pitchFamily="34" charset="-120"/>
                        </a:rPr>
                        <a:t>Precisión humo</a:t>
                      </a:r>
                      <a:endParaRPr lang="en-US" sz="15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500" dirty="0">
                          <a:solidFill>
                            <a:schemeClr val="tx1"/>
                          </a:solidFill>
                          <a:latin typeface="Calibri" pitchFamily="34" charset="0"/>
                          <a:ea typeface="Calibri" pitchFamily="34" charset="-122"/>
                          <a:cs typeface="Calibri" pitchFamily="34" charset="-120"/>
                        </a:rPr>
                        <a:t>0,663</a:t>
                      </a:r>
                      <a:endParaRPr lang="en-US" sz="15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500" dirty="0">
                          <a:solidFill>
                            <a:schemeClr val="accent1"/>
                          </a:solidFill>
                          <a:latin typeface="Calibri" pitchFamily="34" charset="0"/>
                          <a:ea typeface="Calibri" pitchFamily="34" charset="-122"/>
                          <a:cs typeface="Calibri" pitchFamily="34" charset="-120"/>
                        </a:rPr>
                        <a:t>0,846</a:t>
                      </a:r>
                      <a:endParaRPr lang="en-US" sz="15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tcPr>
                </a:tc>
              </a:tr>
            </a:tbl>
          </a:graphicData>
        </a:graphic>
      </p:graphicFrame>
      <p:sp>
        <p:nvSpPr>
          <p:cNvPr id="7" name="Text 3"/>
          <p:cNvSpPr txBox="1"/>
          <p:nvPr/>
        </p:nvSpPr>
        <p:spPr>
          <a:xfrm>
            <a:off x="7040880" y="4846320"/>
            <a:ext cx="4572000" cy="1188720"/>
          </a:xfrm>
          <a:prstGeom prst="rect">
            <a:avLst/>
          </a:prstGeom>
          <a:noFill/>
          <a:ln/>
        </p:spPr>
        <p:txBody>
          <a:bodyPr wrap="square" lIns="0" tIns="0" rIns="0" bIns="0" rtlCol="0" anchor="t"/>
          <a:lstStyle/>
          <a:p>
            <a:pPr indent="0" marL="0">
              <a:buNone/>
            </a:pPr>
            <a:r>
              <a:rPr lang="en-US" sz="1400" dirty="0">
                <a:solidFill>
                  <a:schemeClr val="tx2"/>
                </a:solidFill>
              </a:rPr>
              <a:t>R1 domina a R5 en todo el rango de τ: no es un problema de calibración. Parte de la ventaja viene de la fuga entre splits.</a:t>
            </a:r>
            <a:endParaRPr lang="en-US" sz="14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8716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H4: el clasificador de recortes es un filtro barato y ajustable</a:t>
            </a:r>
            <a:endParaRPr lang="en-US" sz="3000" dirty="0"/>
          </a:p>
        </p:txBody>
      </p:sp>
      <p:sp>
        <p:nvSpPr>
          <p:cNvPr id="3" name="Tarjeta H4 0"/>
          <p:cNvSpPr/>
          <p:nvPr/>
        </p:nvSpPr>
        <p:spPr>
          <a:xfrm>
            <a:off x="548640" y="1371600"/>
            <a:ext cx="3520440" cy="1691640"/>
          </a:xfrm>
          <a:prstGeom prst="roundRect">
            <a:avLst>
              <a:gd name="adj" fmla="val 4324"/>
            </a:avLst>
          </a:prstGeom>
          <a:solidFill>
            <a:schemeClr val="bg2"/>
          </a:solidFill>
          <a:ln/>
        </p:spPr>
      </p:sp>
      <p:sp>
        <p:nvSpPr>
          <p:cNvPr id="4" name="Text 2"/>
          <p:cNvSpPr txBox="1"/>
          <p:nvPr/>
        </p:nvSpPr>
        <p:spPr>
          <a:xfrm>
            <a:off x="822960" y="1417320"/>
            <a:ext cx="3017520" cy="731520"/>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0,65 % → 0,10 %</a:t>
            </a:r>
            <a:endParaRPr lang="en-US" sz="3000" dirty="0"/>
          </a:p>
        </p:txBody>
      </p:sp>
      <p:sp>
        <p:nvSpPr>
          <p:cNvPr id="5" name="Text 3"/>
          <p:cNvSpPr txBox="1"/>
          <p:nvPr/>
        </p:nvSpPr>
        <p:spPr>
          <a:xfrm>
            <a:off x="822960" y="2221992"/>
            <a:ext cx="3017520" cy="685800"/>
          </a:xfrm>
          <a:prstGeom prst="rect">
            <a:avLst/>
          </a:prstGeom>
          <a:noFill/>
          <a:ln/>
        </p:spPr>
        <p:txBody>
          <a:bodyPr wrap="square" lIns="0" tIns="0" rIns="0" bIns="0" rtlCol="0" anchor="t"/>
          <a:lstStyle/>
          <a:p>
            <a:pPr indent="0" marL="0">
              <a:buNone/>
            </a:pPr>
            <a:r>
              <a:rPr lang="en-US" sz="1400" dirty="0">
                <a:solidFill>
                  <a:schemeClr val="tx2"/>
                </a:solidFill>
              </a:rPr>
              <a:t>negativas con FP en test (7× menos)</a:t>
            </a:r>
            <a:endParaRPr lang="en-US" sz="1400" dirty="0"/>
          </a:p>
        </p:txBody>
      </p:sp>
      <p:sp>
        <p:nvSpPr>
          <p:cNvPr id="6" name="Tarjeta H4 1"/>
          <p:cNvSpPr/>
          <p:nvPr/>
        </p:nvSpPr>
        <p:spPr>
          <a:xfrm>
            <a:off x="4343400" y="1371600"/>
            <a:ext cx="3520440" cy="1691640"/>
          </a:xfrm>
          <a:prstGeom prst="roundRect">
            <a:avLst>
              <a:gd name="adj" fmla="val 4324"/>
            </a:avLst>
          </a:prstGeom>
          <a:solidFill>
            <a:schemeClr val="bg2"/>
          </a:solidFill>
          <a:ln/>
        </p:spPr>
      </p:sp>
      <p:sp>
        <p:nvSpPr>
          <p:cNvPr id="7" name="Text 5"/>
          <p:cNvSpPr txBox="1"/>
          <p:nvPr/>
        </p:nvSpPr>
        <p:spPr>
          <a:xfrm>
            <a:off x="4617720" y="1417320"/>
            <a:ext cx="3017520" cy="731520"/>
          </a:xfrm>
          <a:prstGeom prst="rect">
            <a:avLst/>
          </a:prstGeom>
          <a:noFill/>
          <a:ln/>
        </p:spPr>
        <p:txBody>
          <a:bodyPr wrap="square" lIns="0" tIns="0" rIns="0" bIns="0" rtlCol="0" anchor="b"/>
          <a:lstStyle/>
          <a:p>
            <a:pPr indent="0" marL="0">
              <a:buNone/>
            </a:pPr>
            <a:r>
              <a:rPr lang="en-US" sz="3000" b="1" dirty="0">
                <a:solidFill>
                  <a:schemeClr val="accent5"/>
                </a:solidFill>
                <a:latin typeface="Cambria" pitchFamily="34" charset="0"/>
                <a:ea typeface="Cambria" pitchFamily="34" charset="-122"/>
                <a:cs typeface="Cambria" pitchFamily="34" charset="-120"/>
              </a:rPr>
              <a:t>−4,5 pts</a:t>
            </a:r>
            <a:endParaRPr lang="en-US" sz="3000" dirty="0"/>
          </a:p>
        </p:txBody>
      </p:sp>
      <p:sp>
        <p:nvSpPr>
          <p:cNvPr id="8" name="Text 6"/>
          <p:cNvSpPr txBox="1"/>
          <p:nvPr/>
        </p:nvSpPr>
        <p:spPr>
          <a:xfrm>
            <a:off x="4617720" y="2221992"/>
            <a:ext cx="3017520" cy="685800"/>
          </a:xfrm>
          <a:prstGeom prst="rect">
            <a:avLst/>
          </a:prstGeom>
          <a:noFill/>
          <a:ln/>
        </p:spPr>
        <p:txBody>
          <a:bodyPr wrap="square" lIns="0" tIns="0" rIns="0" bIns="0" rtlCol="0" anchor="t"/>
          <a:lstStyle/>
          <a:p>
            <a:pPr indent="0" marL="0">
              <a:buNone/>
            </a:pPr>
            <a:r>
              <a:rPr lang="en-US" sz="1400" dirty="0">
                <a:solidFill>
                  <a:schemeClr val="tx2"/>
                </a:solidFill>
              </a:rPr>
              <a:t>de recall en humo (0,717 → 0,673); fuego −0,9</a:t>
            </a:r>
            <a:endParaRPr lang="en-US" sz="1400" dirty="0"/>
          </a:p>
        </p:txBody>
      </p:sp>
      <p:sp>
        <p:nvSpPr>
          <p:cNvPr id="9" name="Tarjeta H4 2"/>
          <p:cNvSpPr/>
          <p:nvPr/>
        </p:nvSpPr>
        <p:spPr>
          <a:xfrm>
            <a:off x="8138160" y="1371600"/>
            <a:ext cx="3520440" cy="1691640"/>
          </a:xfrm>
          <a:prstGeom prst="roundRect">
            <a:avLst>
              <a:gd name="adj" fmla="val 4324"/>
            </a:avLst>
          </a:prstGeom>
          <a:solidFill>
            <a:schemeClr val="bg2"/>
          </a:solidFill>
          <a:ln/>
        </p:spPr>
      </p:sp>
      <p:sp>
        <p:nvSpPr>
          <p:cNvPr id="10" name="Text 8"/>
          <p:cNvSpPr txBox="1"/>
          <p:nvPr/>
        </p:nvSpPr>
        <p:spPr>
          <a:xfrm>
            <a:off x="8412480" y="1417320"/>
            <a:ext cx="3017520" cy="731520"/>
          </a:xfrm>
          <a:prstGeom prst="rect">
            <a:avLst/>
          </a:prstGeom>
          <a:noFill/>
          <a:ln/>
        </p:spPr>
        <p:txBody>
          <a:bodyPr wrap="square" lIns="0" tIns="0" rIns="0" bIns="0" rtlCol="0" anchor="b"/>
          <a:lstStyle/>
          <a:p>
            <a:pPr indent="0" marL="0">
              <a:buNone/>
            </a:pPr>
            <a:r>
              <a:rPr lang="en-US" sz="3000" b="1" dirty="0">
                <a:solidFill>
                  <a:schemeClr val="accent2"/>
                </a:solidFill>
                <a:latin typeface="Cambria" pitchFamily="34" charset="0"/>
                <a:ea typeface="Cambria" pitchFamily="34" charset="-122"/>
                <a:cs typeface="Cambria" pitchFamily="34" charset="-120"/>
              </a:rPr>
              <a:t>+12 %</a:t>
            </a:r>
            <a:endParaRPr lang="en-US" sz="3000" dirty="0"/>
          </a:p>
        </p:txBody>
      </p:sp>
      <p:sp>
        <p:nvSpPr>
          <p:cNvPr id="11" name="Text 9"/>
          <p:cNvSpPr txBox="1"/>
          <p:nvPr/>
        </p:nvSpPr>
        <p:spPr>
          <a:xfrm>
            <a:off x="8412480" y="2221992"/>
            <a:ext cx="3017520" cy="685800"/>
          </a:xfrm>
          <a:prstGeom prst="rect">
            <a:avLst/>
          </a:prstGeom>
          <a:noFill/>
          <a:ln/>
        </p:spPr>
        <p:txBody>
          <a:bodyPr wrap="square" lIns="0" tIns="0" rIns="0" bIns="0" rtlCol="0" anchor="t"/>
          <a:lstStyle/>
          <a:p>
            <a:pPr indent="0" marL="0">
              <a:buNone/>
            </a:pPr>
            <a:r>
              <a:rPr lang="en-US" sz="1400" dirty="0">
                <a:solidFill>
                  <a:schemeClr val="tx2"/>
                </a:solidFill>
              </a:rPr>
              <a:t>de latencia: 63 ms/frame el sistema completo en CPU</a:t>
            </a:r>
            <a:endParaRPr lang="en-US" sz="1400" dirty="0"/>
          </a:p>
        </p:txBody>
      </p:sp>
      <p:pic>
        <p:nvPicPr>
          <p:cNvPr id="12" name="Ejemplos del clasificador" descr="/home/mamagliani/Documents/posgrado IA/Vision por computadora 2/deteccion_incendios/figures/clasificador_ejemplos.png">    </p:cNvPr>
          <p:cNvPicPr>
            <a:picLocks noChangeAspect="1"/>
          </p:cNvPicPr>
          <p:nvPr/>
        </p:nvPicPr>
        <p:blipFill>
          <a:blip r:embed="rId1"/>
          <a:stretch>
            <a:fillRect/>
          </a:stretch>
        </p:blipFill>
        <p:spPr>
          <a:xfrm>
            <a:off x="548640" y="3291840"/>
            <a:ext cx="11064240" cy="3090672"/>
          </a:xfrm>
          <a:prstGeom prst="rect">
            <a:avLst/>
          </a:prstGeom>
        </p:spPr>
      </p:pic>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8716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En video, alerta de humo en ~1 s y de fuego antes de 7 s</a:t>
            </a:r>
            <a:endParaRPr lang="en-US" sz="3000" dirty="0"/>
          </a:p>
        </p:txBody>
      </p:sp>
      <p:pic>
        <p:nvPicPr>
          <p:cNvPr id="3" name="Frame de la demo" descr="/home/mamagliani/Documents/posgrado IA/Vision por computadora 2/deteccion_incendios/paper/figuras/demo_frame.jpg">    </p:cNvPr>
          <p:cNvPicPr>
            <a:picLocks noChangeAspect="1"/>
          </p:cNvPicPr>
          <p:nvPr/>
        </p:nvPicPr>
        <p:blipFill>
          <a:blip r:embed="rId1"/>
          <a:stretch>
            <a:fillRect/>
          </a:stretch>
        </p:blipFill>
        <p:spPr>
          <a:xfrm>
            <a:off x="548640" y="1417320"/>
            <a:ext cx="6949440" cy="3511296"/>
          </a:xfrm>
          <a:prstGeom prst="rect">
            <a:avLst/>
          </a:prstGeom>
        </p:spPr>
      </p:pic>
      <p:sp>
        <p:nvSpPr>
          <p:cNvPr id="4" name="Text 1"/>
          <p:cNvSpPr txBox="1"/>
          <p:nvPr/>
        </p:nvSpPr>
        <p:spPr>
          <a:xfrm>
            <a:off x="548640" y="5074920"/>
            <a:ext cx="6949440" cy="640080"/>
          </a:xfrm>
          <a:prstGeom prst="rect">
            <a:avLst/>
          </a:prstGeom>
          <a:noFill/>
          <a:ln/>
        </p:spPr>
        <p:txBody>
          <a:bodyPr wrap="square" lIns="0" tIns="0" rIns="0" bIns="0" rtlCol="0" anchor="t"/>
          <a:lstStyle/>
          <a:p>
            <a:pPr indent="0" marL="0">
              <a:buNone/>
            </a:pPr>
            <a:r>
              <a:rPr lang="en-US" sz="1300" i="1" dirty="0">
                <a:solidFill>
                  <a:schemeClr val="tx2"/>
                </a:solidFill>
              </a:rPr>
              <a:t>2 clips periodísticos (60,5 s y 41,5 s a 50 fps) · R1 + clasificador · τ = 0,4 · K/N = 3/5</a:t>
            </a:r>
            <a:endParaRPr lang="en-US" sz="1300" dirty="0"/>
          </a:p>
        </p:txBody>
      </p:sp>
      <p:sp>
        <p:nvSpPr>
          <p:cNvPr id="5" name="Text 2"/>
          <p:cNvSpPr txBox="1"/>
          <p:nvPr/>
        </p:nvSpPr>
        <p:spPr>
          <a:xfrm>
            <a:off x="7955280" y="1371600"/>
            <a:ext cx="3657600" cy="73152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30–40 FPS</a:t>
            </a:r>
            <a:endParaRPr lang="en-US" sz="4000" dirty="0"/>
          </a:p>
        </p:txBody>
      </p:sp>
      <p:sp>
        <p:nvSpPr>
          <p:cNvPr id="6" name="Text 3"/>
          <p:cNvSpPr txBox="1"/>
          <p:nvPr/>
        </p:nvSpPr>
        <p:spPr>
          <a:xfrm>
            <a:off x="7955280" y="2176272"/>
            <a:ext cx="3657600" cy="685800"/>
          </a:xfrm>
          <a:prstGeom prst="rect">
            <a:avLst/>
          </a:prstGeom>
          <a:noFill/>
          <a:ln/>
        </p:spPr>
        <p:txBody>
          <a:bodyPr wrap="square" lIns="0" tIns="0" rIns="0" bIns="0" rtlCol="0" anchor="t"/>
          <a:lstStyle/>
          <a:p>
            <a:pPr indent="0" marL="0">
              <a:buNone/>
            </a:pPr>
            <a:r>
              <a:rPr lang="en-US" sz="1400" dirty="0">
                <a:solidFill>
                  <a:schemeClr val="tx2"/>
                </a:solidFill>
              </a:rPr>
              <a:t>detector + clasificador en la CPU de una notebook</a:t>
            </a:r>
            <a:endParaRPr lang="en-US" sz="1400" dirty="0"/>
          </a:p>
        </p:txBody>
      </p:sp>
      <p:sp>
        <p:nvSpPr>
          <p:cNvPr id="7" name="Text 4"/>
          <p:cNvSpPr txBox="1"/>
          <p:nvPr/>
        </p:nvSpPr>
        <p:spPr>
          <a:xfrm>
            <a:off x="7955280" y="2926080"/>
            <a:ext cx="3657600" cy="73152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49 → 12</a:t>
            </a:r>
            <a:endParaRPr lang="en-US" sz="4000" dirty="0"/>
          </a:p>
        </p:txBody>
      </p:sp>
      <p:sp>
        <p:nvSpPr>
          <p:cNvPr id="8" name="Text 5"/>
          <p:cNvSpPr txBox="1"/>
          <p:nvPr/>
        </p:nvSpPr>
        <p:spPr>
          <a:xfrm>
            <a:off x="7955280" y="3730752"/>
            <a:ext cx="3657600" cy="685800"/>
          </a:xfrm>
          <a:prstGeom prst="rect">
            <a:avLst/>
          </a:prstGeom>
          <a:noFill/>
          <a:ln/>
        </p:spPr>
        <p:txBody>
          <a:bodyPr wrap="square" lIns="0" tIns="0" rIns="0" bIns="0" rtlCol="0" anchor="t"/>
          <a:lstStyle/>
          <a:p>
            <a:pPr indent="0" marL="0">
              <a:buNone/>
            </a:pPr>
            <a:r>
              <a:rPr lang="en-US" sz="1400" dirty="0">
                <a:solidFill>
                  <a:schemeClr val="tx2"/>
                </a:solidFill>
              </a:rPr>
              <a:t>eventos de alerta al procesar 1 de cada 10 frames (ventana de 1 s en vez de 0,1 s)</a:t>
            </a:r>
            <a:endParaRPr lang="en-US" sz="1400" dirty="0"/>
          </a:p>
        </p:txBody>
      </p:sp>
      <p:sp>
        <p:nvSpPr>
          <p:cNvPr id="9" name="Text 6"/>
          <p:cNvSpPr txBox="1"/>
          <p:nvPr/>
        </p:nvSpPr>
        <p:spPr>
          <a:xfrm>
            <a:off x="7955280" y="4754880"/>
            <a:ext cx="3657600" cy="822960"/>
          </a:xfrm>
          <a:prstGeom prst="rect">
            <a:avLst/>
          </a:prstGeom>
          <a:noFill/>
          <a:ln/>
        </p:spPr>
        <p:txBody>
          <a:bodyPr wrap="square" lIns="0" tIns="0" rIns="0" bIns="0" rtlCol="0" anchor="t"/>
          <a:lstStyle/>
          <a:p>
            <a:pPr indent="0" marL="0">
              <a:buNone/>
            </a:pPr>
            <a:r>
              <a:rPr lang="en-US" sz="1500" b="1" dirty="0">
                <a:solidFill>
                  <a:schemeClr val="tx1"/>
                </a:solidFill>
              </a:rPr>
              <a:t>Lección: </a:t>
            </a:r>
            <a:pPr indent="0" marL="0">
              <a:buNone/>
            </a:pPr>
            <a:r>
              <a:rPr lang="en-US" sz="1500" dirty="0">
                <a:solidFill>
                  <a:schemeClr val="tx2"/>
                </a:solidFill>
              </a:rPr>
              <a:t>N tiene que fijarse en segundos, no en frames.</a:t>
            </a:r>
            <a:endParaRPr lang="en-US" sz="15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8716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Muchos falsos positivos de humo son diferencias de anotación</a:t>
            </a:r>
            <a:endParaRPr lang="en-US" sz="3000" dirty="0"/>
          </a:p>
        </p:txBody>
      </p:sp>
      <p:pic>
        <p:nvPicPr>
          <p:cNvPr id="3" name="Falsos positivos de humo" descr="/home/mamagliani/Documents/posgrado IA/Vision por computadora 2/deteccion_incendios/paper/figuras/errores_fp_humo.jpg">    </p:cNvPr>
          <p:cNvPicPr>
            <a:picLocks noChangeAspect="1"/>
          </p:cNvPicPr>
          <p:nvPr/>
        </p:nvPicPr>
        <p:blipFill>
          <a:blip r:embed="rId1"/>
          <a:stretch>
            <a:fillRect/>
          </a:stretch>
        </p:blipFill>
        <p:spPr>
          <a:xfrm>
            <a:off x="548640" y="1371600"/>
            <a:ext cx="6949440" cy="3977640"/>
          </a:xfrm>
          <a:prstGeom prst="rect">
            <a:avLst/>
          </a:prstGeom>
        </p:spPr>
      </p:pic>
      <p:sp>
        <p:nvSpPr>
          <p:cNvPr id="4" name="Text 1"/>
          <p:cNvSpPr txBox="1"/>
          <p:nvPr/>
        </p:nvSpPr>
        <p:spPr>
          <a:xfrm>
            <a:off x="548640" y="5440680"/>
            <a:ext cx="6949440" cy="457200"/>
          </a:xfrm>
          <a:prstGeom prst="rect">
            <a:avLst/>
          </a:prstGeom>
          <a:noFill/>
          <a:ln/>
        </p:spPr>
        <p:txBody>
          <a:bodyPr wrap="square" lIns="0" tIns="0" rIns="0" bIns="0" rtlCol="0" anchor="t"/>
          <a:lstStyle/>
          <a:p>
            <a:pPr indent="0" marL="0">
              <a:buNone/>
            </a:pPr>
            <a:r>
              <a:rPr lang="en-US" sz="1200" i="1" dirty="0">
                <a:solidFill>
                  <a:schemeClr val="tx2"/>
                </a:solidFill>
              </a:rPr>
              <a:t>Top-20 FP de humo de R1 (τ = 0,4). Amarillo: FP · verde: ground truth</a:t>
            </a:r>
            <a:endParaRPr lang="en-US" sz="1200" dirty="0"/>
          </a:p>
        </p:txBody>
      </p:sp>
      <p:sp>
        <p:nvSpPr>
          <p:cNvPr id="5" name="Text 2"/>
          <p:cNvSpPr txBox="1"/>
          <p:nvPr/>
        </p:nvSpPr>
        <p:spPr>
          <a:xfrm>
            <a:off x="7955280" y="1371600"/>
            <a:ext cx="3657600" cy="73152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0 de 20</a:t>
            </a:r>
            <a:endParaRPr lang="en-US" sz="4000" dirty="0"/>
          </a:p>
        </p:txBody>
      </p:sp>
      <p:sp>
        <p:nvSpPr>
          <p:cNvPr id="6" name="Text 3"/>
          <p:cNvSpPr txBox="1"/>
          <p:nvPr/>
        </p:nvSpPr>
        <p:spPr>
          <a:xfrm>
            <a:off x="7955280" y="2176272"/>
            <a:ext cx="3657600" cy="685800"/>
          </a:xfrm>
          <a:prstGeom prst="rect">
            <a:avLst/>
          </a:prstGeom>
          <a:noFill/>
          <a:ln/>
        </p:spPr>
        <p:txBody>
          <a:bodyPr wrap="square" lIns="0" tIns="0" rIns="0" bIns="0" rtlCol="0" anchor="t"/>
          <a:lstStyle/>
          <a:p>
            <a:pPr indent="0" marL="0">
              <a:buNone/>
            </a:pPr>
            <a:r>
              <a:rPr lang="en-US" sz="1400" dirty="0">
                <a:solidFill>
                  <a:schemeClr val="tx2"/>
                </a:solidFill>
              </a:rPr>
              <a:t>FP de mayor confianza caen en imágenes negativas</a:t>
            </a:r>
            <a:endParaRPr lang="en-US" sz="1400" dirty="0"/>
          </a:p>
        </p:txBody>
      </p:sp>
      <p:sp>
        <p:nvSpPr>
          <p:cNvPr id="7" name="Text 4"/>
          <p:cNvSpPr txBox="1"/>
          <p:nvPr/>
        </p:nvSpPr>
        <p:spPr>
          <a:xfrm>
            <a:off x="7955280" y="2834640"/>
            <a:ext cx="3657600" cy="73152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5</a:t>
            </a:r>
            <a:endParaRPr lang="en-US" sz="4000" dirty="0"/>
          </a:p>
        </p:txBody>
      </p:sp>
      <p:sp>
        <p:nvSpPr>
          <p:cNvPr id="8" name="Text 5"/>
          <p:cNvSpPr txBox="1"/>
          <p:nvPr/>
        </p:nvSpPr>
        <p:spPr>
          <a:xfrm>
            <a:off x="7955280" y="3639312"/>
            <a:ext cx="3657600" cy="685800"/>
          </a:xfrm>
          <a:prstGeom prst="rect">
            <a:avLst/>
          </a:prstGeom>
          <a:noFill/>
          <a:ln/>
        </p:spPr>
        <p:txBody>
          <a:bodyPr wrap="square" lIns="0" tIns="0" rIns="0" bIns="0" rtlCol="0" anchor="t"/>
          <a:lstStyle/>
          <a:p>
            <a:pPr indent="0" marL="0">
              <a:buNone/>
            </a:pPr>
            <a:r>
              <a:rPr lang="en-US" sz="1400" dirty="0">
                <a:solidFill>
                  <a:schemeClr val="tx2"/>
                </a:solidFill>
              </a:rPr>
              <a:t>son confusiones entre clases (humo ↔ fuego)</a:t>
            </a:r>
            <a:endParaRPr lang="en-US" sz="1400" dirty="0"/>
          </a:p>
        </p:txBody>
      </p:sp>
      <p:sp>
        <p:nvSpPr>
          <p:cNvPr id="9" name="Text 6"/>
          <p:cNvSpPr txBox="1"/>
          <p:nvPr/>
        </p:nvSpPr>
        <p:spPr>
          <a:xfrm>
            <a:off x="7955280" y="4343400"/>
            <a:ext cx="3657600" cy="1188720"/>
          </a:xfrm>
          <a:prstGeom prst="rect">
            <a:avLst/>
          </a:prstGeom>
          <a:noFill/>
          <a:ln/>
        </p:spPr>
        <p:txBody>
          <a:bodyPr wrap="square" lIns="0" tIns="0" rIns="0" bIns="0" rtlCol="0" anchor="t"/>
          <a:lstStyle/>
          <a:p>
            <a:pPr indent="0" marL="0">
              <a:buNone/>
            </a:pPr>
            <a:r>
              <a:rPr lang="en-US" sz="1400" dirty="0">
                <a:solidFill>
                  <a:schemeClr val="tx2"/>
                </a:solidFill>
              </a:rPr>
              <a:t>El modelo marca la columna entera; el GT la divide en cajas chicas → IoU &lt; 0,5. Para alertar importa la presencia, no el contorno.</a:t>
            </a:r>
            <a:endParaRPr lang="en-US" sz="1400" dirty="0"/>
          </a:p>
        </p:txBody>
      </p:sp>
      <p:sp>
        <p:nvSpPr>
          <p:cNvPr id="10" name="Etiqueta Distribución de causas: pendiente"/>
          <p:cNvSpPr/>
          <p:nvPr/>
        </p:nvSpPr>
        <p:spPr>
          <a:xfrm>
            <a:off x="7955280" y="5577840"/>
            <a:ext cx="3657600" cy="384048"/>
          </a:xfrm>
          <a:prstGeom prst="roundRect">
            <a:avLst>
              <a:gd name="adj" fmla="val 50000"/>
            </a:avLst>
          </a:prstGeom>
          <a:solidFill>
            <a:schemeClr val="accent3"/>
          </a:solidFill>
          <a:ln/>
        </p:spPr>
      </p:sp>
      <p:sp>
        <p:nvSpPr>
          <p:cNvPr id="11" name="Texto etiqueta Distribución de causas: pendiente"/>
          <p:cNvSpPr txBox="1"/>
          <p:nvPr/>
        </p:nvSpPr>
        <p:spPr>
          <a:xfrm>
            <a:off x="7955280" y="5577840"/>
            <a:ext cx="3657600" cy="384048"/>
          </a:xfrm>
          <a:prstGeom prst="rect">
            <a:avLst/>
          </a:prstGeom>
          <a:noFill/>
          <a:ln/>
        </p:spPr>
        <p:txBody>
          <a:bodyPr wrap="square" lIns="0" tIns="0" rIns="0" bIns="0" rtlCol="0" anchor="ctr"/>
          <a:lstStyle/>
          <a:p>
            <a:pPr algn="ctr" indent="0" marL="0">
              <a:buNone/>
            </a:pPr>
            <a:r>
              <a:rPr lang="en-US" sz="1200" b="1" dirty="0">
                <a:solidFill>
                  <a:schemeClr val="bg1"/>
                </a:solidFill>
              </a:rPr>
              <a:t>Distribución de causas: pendiente</a:t>
            </a:r>
            <a:endParaRPr lang="en-US" sz="12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8716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377440"/>
            <a:ext cx="10515600" cy="1188720"/>
          </a:xfrm>
          <a:prstGeom prst="rect">
            <a:avLst/>
          </a:prstGeom>
          <a:noFill/>
          <a:ln/>
        </p:spPr>
        <p:txBody>
          <a:bodyPr wrap="square" lIns="0" tIns="0" rIns="0" bIns="0" rtlCol="0" anchor="b"/>
          <a:lstStyle/>
          <a:p>
            <a:pPr algn="l" indent="0" marL="0">
              <a:buNone/>
            </a:pPr>
            <a:r>
              <a:rPr lang="en-US" sz="4400" b="1" dirty="0">
                <a:solidFill>
                  <a:schemeClr val="bg1"/>
                </a:solidFill>
              </a:rPr>
              <a:t>Lo que falta cerrar</a:t>
            </a:r>
            <a:endParaRPr lang="en-US" sz="4400" dirty="0"/>
          </a:p>
        </p:txBody>
      </p:sp>
      <p:sp>
        <p:nvSpPr>
          <p:cNvPr id="3" name="Text 0"/>
          <p:cNvSpPr/>
          <p:nvPr>
            <p:ph idx="101" type="body" hasCustomPrompt="1"/>
          </p:nvPr>
        </p:nvSpPr>
        <p:spPr>
          <a:xfrm>
            <a:off x="822960" y="3749040"/>
            <a:ext cx="10515600" cy="1097280"/>
          </a:xfrm>
          <a:prstGeom prst="rect">
            <a:avLst/>
          </a:prstGeom>
          <a:noFill/>
          <a:ln/>
        </p:spPr>
        <p:txBody>
          <a:bodyPr wrap="square" lIns="0" tIns="0" rIns="0" bIns="0" rtlCol="0" anchor="t"/>
          <a:lstStyle/>
          <a:p>
            <a:pPr indent="0" marL="0">
              <a:buNone/>
            </a:pPr>
            <a:r>
              <a:rPr lang="en-US" sz="2000" dirty="0">
                <a:solidFill>
                  <a:srgbClr val="D6D3D1"/>
                </a:solidFill>
              </a:rPr>
              <a:t>H3 cuantitativa · set de estrés · interfaz web · video de demo</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H3: falsas alarmas por hora vs. latencia de alerta</a:t>
            </a:r>
            <a:endParaRPr lang="en-US" sz="3000" dirty="0"/>
          </a:p>
        </p:txBody>
      </p:sp>
      <p:sp>
        <p:nvSpPr>
          <p:cNvPr id="3" name="Etiqueta PENDIENTE"/>
          <p:cNvSpPr/>
          <p:nvPr/>
        </p:nvSpPr>
        <p:spPr>
          <a:xfrm>
            <a:off x="10149840" y="548640"/>
            <a:ext cx="1463040" cy="384048"/>
          </a:xfrm>
          <a:prstGeom prst="roundRect">
            <a:avLst>
              <a:gd name="adj" fmla="val 50000"/>
            </a:avLst>
          </a:prstGeom>
          <a:solidFill>
            <a:schemeClr val="accent3"/>
          </a:solidFill>
          <a:ln/>
        </p:spPr>
      </p:sp>
      <p:sp>
        <p:nvSpPr>
          <p:cNvPr id="4" name="Texto etiqueta PENDIENTE"/>
          <p:cNvSpPr txBox="1"/>
          <p:nvPr/>
        </p:nvSpPr>
        <p:spPr>
          <a:xfrm>
            <a:off x="10149840" y="548640"/>
            <a:ext cx="1463040" cy="384048"/>
          </a:xfrm>
          <a:prstGeom prst="rect">
            <a:avLst/>
          </a:prstGeom>
          <a:noFill/>
          <a:ln/>
        </p:spPr>
        <p:txBody>
          <a:bodyPr wrap="square" lIns="0" tIns="0" rIns="0" bIns="0" rtlCol="0" anchor="ctr"/>
          <a:lstStyle/>
          <a:p>
            <a:pPr algn="ctr" indent="0" marL="0">
              <a:buNone/>
            </a:pPr>
            <a:r>
              <a:rPr lang="en-US" sz="1200" b="1" dirty="0">
                <a:solidFill>
                  <a:schemeClr val="bg1"/>
                </a:solidFill>
              </a:rPr>
              <a:t>PENDIENTE</a:t>
            </a:r>
            <a:endParaRPr lang="en-US" sz="1200" dirty="0"/>
          </a:p>
        </p:txBody>
      </p:sp>
      <p:sp>
        <p:nvSpPr>
          <p:cNvPr id="5" name="Text 3"/>
          <p:cNvSpPr txBox="1"/>
          <p:nvPr/>
        </p:nvSpPr>
        <p:spPr>
          <a:xfrm>
            <a:off x="548640" y="1417320"/>
            <a:ext cx="5120640" cy="365760"/>
          </a:xfrm>
          <a:prstGeom prst="rect">
            <a:avLst/>
          </a:prstGeom>
          <a:noFill/>
          <a:ln/>
        </p:spPr>
        <p:txBody>
          <a:bodyPr wrap="square" lIns="0" tIns="0" rIns="0" bIns="0" rtlCol="0" anchor="t"/>
          <a:lstStyle/>
          <a:p>
            <a:pPr indent="0" marL="0">
              <a:buNone/>
            </a:pPr>
            <a:r>
              <a:rPr lang="en-US" sz="1600" b="1" dirty="0">
                <a:solidFill>
                  <a:schemeClr val="tx1"/>
                </a:solidFill>
              </a:rPr>
              <a:t>Clips planificados (videos/clips.csv)</a:t>
            </a:r>
            <a:endParaRPr lang="en-US" sz="1600" dirty="0"/>
          </a:p>
        </p:txBody>
      </p:sp>
      <p:graphicFrame>
        <p:nvGraphicFramePr>
          <p:cNvPr id="16" name="Tabla clips"/>
          <p:cNvGraphicFramePr>
            <a:graphicFrameLocks noGrp="1"/>
          </p:cNvGraphicFramePr>
          <p:nvPr>
            <p:extLst>
              <p:ext uri="{D42A27DB-BD31-4B8C-83A1-F6EECF244321}">
                <p14:modId xmlns:p14="http://schemas.microsoft.com/office/powerpoint/2010/main" val="1579011935"/>
              </p:ext>
            </p:extLst>
          </p:nvPr>
        </p:nvGraphicFramePr>
        <p:xfrm>
          <a:off x="548640" y="1874520"/>
          <a:ext cx="5120640" cy="914400"/>
        </p:xfrm>
        <a:graphic>
          <a:graphicData uri="http://schemas.openxmlformats.org/drawingml/2006/table">
            <a:tbl>
              <a:tblPr/>
              <a:tblGrid>
                <a:gridCol w="1463040"/>
                <a:gridCol w="1188720"/>
                <a:gridCol w="1005840"/>
                <a:gridCol w="1463040"/>
              </a:tblGrid>
              <a:tr h="411480">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Clip</a:t>
                      </a:r>
                      <a:endParaRPr lang="en-US" sz="14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Tipo</a:t>
                      </a:r>
                      <a:endParaRPr lang="en-US" sz="14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t evento</a:t>
                      </a:r>
                      <a:endParaRPr lang="en-US" sz="14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Estado</a:t>
                      </a:r>
                      <a:endParaRPr lang="en-US" sz="14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chemeClr val="tx1"/>
                    </a:solidFill>
                  </a:tcPr>
                </a:tc>
              </a:tr>
              <a:tr h="41148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fuego_claro</a:t>
                      </a:r>
                      <a:endParaRPr lang="en-US" sz="14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fuego</a:t>
                      </a:r>
                      <a:endParaRPr lang="en-US" sz="14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indent="0" marL="0">
                        <a:buNone/>
                      </a:pPr>
                      <a:r>
                        <a:rPr lang="en-US" sz="1400" dirty="0">
                          <a:solidFill>
                            <a:schemeClr val="accent3"/>
                          </a:solidFill>
                          <a:latin typeface="Calibri" pitchFamily="34" charset="0"/>
                          <a:ea typeface="Calibri" pitchFamily="34" charset="-122"/>
                          <a:cs typeface="Calibri" pitchFamily="34" charset="-120"/>
                        </a:rPr>
                        <a:t>falta video</a:t>
                      </a:r>
                      <a:endParaRPr lang="en-US" sz="14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r>
              <a:tr h="41148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humo_lento</a:t>
                      </a:r>
                      <a:endParaRPr lang="en-US" sz="14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humo</a:t>
                      </a:r>
                      <a:endParaRPr lang="en-US" sz="14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indent="0" marL="0">
                        <a:buNone/>
                      </a:pPr>
                      <a:r>
                        <a:rPr lang="en-US" sz="1400" dirty="0">
                          <a:solidFill>
                            <a:schemeClr val="accent3"/>
                          </a:solidFill>
                          <a:latin typeface="Calibri" pitchFamily="34" charset="0"/>
                          <a:ea typeface="Calibri" pitchFamily="34" charset="-122"/>
                          <a:cs typeface="Calibri" pitchFamily="34" charset="-120"/>
                        </a:rPr>
                        <a:t>falta video</a:t>
                      </a:r>
                      <a:endParaRPr lang="en-US" sz="14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r>
              <a:tr h="41148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nocturno</a:t>
                      </a:r>
                      <a:endParaRPr lang="en-US" sz="14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nocturno</a:t>
                      </a:r>
                      <a:endParaRPr lang="en-US" sz="14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indent="0" marL="0">
                        <a:buNone/>
                      </a:pPr>
                      <a:r>
                        <a:rPr lang="en-US" sz="1400" dirty="0">
                          <a:solidFill>
                            <a:schemeClr val="accent3"/>
                          </a:solidFill>
                          <a:latin typeface="Calibri" pitchFamily="34" charset="0"/>
                          <a:ea typeface="Calibri" pitchFamily="34" charset="-122"/>
                          <a:cs typeface="Calibri" pitchFamily="34" charset="-120"/>
                        </a:rPr>
                        <a:t>falta video</a:t>
                      </a:r>
                      <a:endParaRPr lang="en-US" sz="14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r>
              <a:tr h="41148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sin_evento</a:t>
                      </a:r>
                      <a:endParaRPr lang="en-US" sz="14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sin evento</a:t>
                      </a:r>
                      <a:endParaRPr lang="en-US" sz="14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n/a</a:t>
                      </a:r>
                      <a:endParaRPr lang="en-US" sz="14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indent="0" marL="0">
                        <a:buNone/>
                      </a:pPr>
                      <a:r>
                        <a:rPr lang="en-US" sz="1400" dirty="0">
                          <a:solidFill>
                            <a:schemeClr val="accent3"/>
                          </a:solidFill>
                          <a:latin typeface="Calibri" pitchFamily="34" charset="0"/>
                          <a:ea typeface="Calibri" pitchFamily="34" charset="-122"/>
                          <a:cs typeface="Calibri" pitchFamily="34" charset="-120"/>
                        </a:rPr>
                        <a:t>falta video</a:t>
                      </a:r>
                      <a:endParaRPr lang="en-US" sz="14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4206240"/>
            <a:ext cx="5120640" cy="14630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2"/>
                </a:solidFill>
              </a:rPr>
              <a:t>Ya está: alerta.py (K-de-N con histéresis) y barrido_alerta.ipynb</a:t>
            </a:r>
            <a:endParaRPr lang="en-US" sz="1500" dirty="0"/>
          </a:p>
          <a:p>
            <a:pPr marL="342900" indent="-342900">
              <a:spcAft>
                <a:spcPts val="800"/>
              </a:spcAft>
              <a:buSzPct val="100000"/>
              <a:buChar char="•"/>
            </a:pPr>
            <a:r>
              <a:rPr lang="en-US" sz="1400" dirty="0">
                <a:solidFill>
                  <a:schemeClr val="tx2"/>
                </a:solidFill>
              </a:rPr>
              <a:t>Falta: clips de cámara fija con el inicio del incendio anotado (ej. FIgLib / HPWREN)</a:t>
            </a:r>
            <a:endParaRPr lang="en-US" sz="1500" dirty="0"/>
          </a:p>
        </p:txBody>
      </p:sp>
      <p:sp>
        <p:nvSpPr>
          <p:cNvPr id="8" name="Lugar del gráfico H3"/>
          <p:cNvSpPr/>
          <p:nvPr/>
        </p:nvSpPr>
        <p:spPr>
          <a:xfrm>
            <a:off x="6217920" y="1417320"/>
            <a:ext cx="5394960" cy="4480560"/>
          </a:xfrm>
          <a:prstGeom prst="roundRect">
            <a:avLst>
              <a:gd name="adj" fmla="val 1633"/>
            </a:avLst>
          </a:prstGeom>
          <a:solidFill>
            <a:schemeClr val="bg2"/>
          </a:solidFill>
          <a:ln w="15875">
            <a:solidFill>
              <a:srgbClr val="A8A29E"/>
            </a:solidFill>
            <a:prstDash val="dash"/>
          </a:ln>
        </p:spPr>
      </p:sp>
      <p:sp>
        <p:nvSpPr>
          <p:cNvPr id="9" name="Gráfico pendiente círculo"/>
          <p:cNvSpPr/>
          <p:nvPr/>
        </p:nvSpPr>
        <p:spPr>
          <a:xfrm>
            <a:off x="8549640" y="2194560"/>
            <a:ext cx="731520" cy="731520"/>
          </a:xfrm>
          <a:prstGeom prst="ellipse">
            <a:avLst/>
          </a:prstGeom>
          <a:solidFill>
            <a:schemeClr val="accent5"/>
          </a:solidFill>
          <a:ln/>
        </p:spPr>
      </p:sp>
      <p:pic>
        <p:nvPicPr>
          <p:cNvPr id="10" name="Gráfico pendiente ícono" descr="preencoded.png">    </p:cNvPr>
          <p:cNvPicPr>
            <a:picLocks noChangeAspect="1"/>
          </p:cNvPicPr>
          <p:nvPr/>
        </p:nvPicPr>
        <p:blipFill>
          <a:blip r:embed="rId1"/>
          <a:stretch>
            <a:fillRect/>
          </a:stretch>
        </p:blipFill>
        <p:spPr>
          <a:xfrm>
            <a:off x="8732520" y="2377440"/>
            <a:ext cx="365760" cy="365760"/>
          </a:xfrm>
          <a:prstGeom prst="rect">
            <a:avLst/>
          </a:prstGeom>
        </p:spPr>
      </p:pic>
      <p:sp>
        <p:nvSpPr>
          <p:cNvPr id="11" name="Text 7"/>
          <p:cNvSpPr txBox="1"/>
          <p:nvPr/>
        </p:nvSpPr>
        <p:spPr>
          <a:xfrm>
            <a:off x="6492240" y="3108960"/>
            <a:ext cx="4846320" cy="411480"/>
          </a:xfrm>
          <a:prstGeom prst="rect">
            <a:avLst/>
          </a:prstGeom>
          <a:noFill/>
          <a:ln/>
        </p:spPr>
        <p:txBody>
          <a:bodyPr wrap="square" lIns="0" tIns="0" rIns="0" bIns="0" rtlCol="0" anchor="t"/>
          <a:lstStyle/>
          <a:p>
            <a:pPr algn="ctr" indent="0" marL="0">
              <a:buNone/>
            </a:pPr>
            <a:r>
              <a:rPr lang="en-US" sz="1700" b="1" dirty="0">
                <a:solidFill>
                  <a:schemeClr val="tx1"/>
                </a:solidFill>
              </a:rPr>
              <a:t>Curva FA/hora vs. latencia de alerta</a:t>
            </a:r>
            <a:endParaRPr lang="en-US" sz="1700" dirty="0"/>
          </a:p>
        </p:txBody>
      </p:sp>
      <p:sp>
        <p:nvSpPr>
          <p:cNvPr id="12" name="Text 8"/>
          <p:cNvSpPr txBox="1"/>
          <p:nvPr/>
        </p:nvSpPr>
        <p:spPr>
          <a:xfrm>
            <a:off x="6675120" y="3611880"/>
            <a:ext cx="4480560" cy="1097280"/>
          </a:xfrm>
          <a:prstGeom prst="rect">
            <a:avLst/>
          </a:prstGeom>
          <a:noFill/>
          <a:ln/>
        </p:spPr>
        <p:txBody>
          <a:bodyPr wrap="square" lIns="0" tIns="0" rIns="0" bIns="0" rtlCol="0" anchor="t"/>
          <a:lstStyle/>
          <a:p>
            <a:pPr algn="ctr" indent="0" marL="0">
              <a:buNone/>
            </a:pPr>
            <a:r>
              <a:rPr lang="en-US" sz="1400" dirty="0">
                <a:solidFill>
                  <a:schemeClr val="tx2"/>
                </a:solidFill>
              </a:rPr>
              <a:t>Barrido de τ ∈ {0,25 … 0,6} y K/N, con y sin clasificador. Hoy: τ = 0,4 · K/N = 3/5 · N a ~5 fps</a:t>
            </a:r>
            <a:endParaRPr lang="en-US" sz="14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8716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Set de estrés: ¿qué lo confunde fuera de D-Fire?</a:t>
            </a:r>
            <a:endParaRPr lang="en-US" sz="3000" dirty="0"/>
          </a:p>
        </p:txBody>
      </p:sp>
      <p:sp>
        <p:nvSpPr>
          <p:cNvPr id="3" name="Etiqueta PENDIENTE"/>
          <p:cNvSpPr/>
          <p:nvPr/>
        </p:nvSpPr>
        <p:spPr>
          <a:xfrm>
            <a:off x="10149840" y="548640"/>
            <a:ext cx="1463040" cy="384048"/>
          </a:xfrm>
          <a:prstGeom prst="roundRect">
            <a:avLst>
              <a:gd name="adj" fmla="val 50000"/>
            </a:avLst>
          </a:prstGeom>
          <a:solidFill>
            <a:schemeClr val="accent3"/>
          </a:solidFill>
          <a:ln/>
        </p:spPr>
      </p:sp>
      <p:sp>
        <p:nvSpPr>
          <p:cNvPr id="4" name="Texto etiqueta PENDIENTE"/>
          <p:cNvSpPr txBox="1"/>
          <p:nvPr/>
        </p:nvSpPr>
        <p:spPr>
          <a:xfrm>
            <a:off x="10149840" y="548640"/>
            <a:ext cx="1463040" cy="384048"/>
          </a:xfrm>
          <a:prstGeom prst="rect">
            <a:avLst/>
          </a:prstGeom>
          <a:noFill/>
          <a:ln/>
        </p:spPr>
        <p:txBody>
          <a:bodyPr wrap="square" lIns="0" tIns="0" rIns="0" bIns="0" rtlCol="0" anchor="ctr"/>
          <a:lstStyle/>
          <a:p>
            <a:pPr algn="ctr" indent="0" marL="0">
              <a:buNone/>
            </a:pPr>
            <a:r>
              <a:rPr lang="en-US" sz="1200" b="1" dirty="0">
                <a:solidFill>
                  <a:schemeClr val="bg1"/>
                </a:solidFill>
              </a:rPr>
              <a:t>PENDIENTE</a:t>
            </a:r>
            <a:endParaRPr lang="en-US" sz="1200" dirty="0"/>
          </a:p>
        </p:txBody>
      </p:sp>
      <p:graphicFrame>
        <p:nvGraphicFramePr>
          <p:cNvPr id="17" name="Tabla estrés"/>
          <p:cNvGraphicFramePr>
            <a:graphicFrameLocks noGrp="1"/>
          </p:cNvGraphicFramePr>
          <p:nvPr>
            <p:extLst>
              <p:ext uri="{D42A27DB-BD31-4B8C-83A1-F6EECF244321}">
                <p14:modId xmlns:p14="http://schemas.microsoft.com/office/powerpoint/2010/main" val="1579011935"/>
              </p:ext>
            </p:extLst>
          </p:nvPr>
        </p:nvGraphicFramePr>
        <p:xfrm>
          <a:off x="548640" y="1463040"/>
          <a:ext cx="7223760" cy="914400"/>
        </p:xfrm>
        <a:graphic>
          <a:graphicData uri="http://schemas.openxmlformats.org/drawingml/2006/table">
            <a:tbl>
              <a:tblPr/>
              <a:tblGrid>
                <a:gridCol w="2834640"/>
                <a:gridCol w="1188720"/>
                <a:gridCol w="1463040"/>
                <a:gridCol w="1737360"/>
              </a:tblGrid>
              <a:tr h="502920">
                <a:tc>
                  <a:txBody>
                    <a:bodyPr/>
                    <a:lstStyle/>
                    <a:p>
                      <a:pPr algn="l" indent="0" marL="0">
                        <a:buNone/>
                      </a:pPr>
                      <a:r>
                        <a:rPr lang="en-US" sz="1500" b="1" dirty="0">
                          <a:solidFill>
                            <a:schemeClr val="bg1"/>
                          </a:solidFill>
                          <a:latin typeface="Calibri" pitchFamily="34" charset="0"/>
                          <a:ea typeface="Calibri" pitchFamily="34" charset="-122"/>
                          <a:cs typeface="Calibri" pitchFamily="34" charset="-120"/>
                        </a:rPr>
                        <a:t>Categoría</a:t>
                      </a:r>
                      <a:endParaRPr lang="en-US" sz="15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chemeClr val="tx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Imágenes</a:t>
                      </a:r>
                      <a:endParaRPr lang="en-US" sz="15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chemeClr val="tx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 con FP · R1</a:t>
                      </a:r>
                      <a:endParaRPr lang="en-US" sz="15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chemeClr val="tx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 con FP · R1 + clf</a:t>
                      </a:r>
                      <a:endParaRPr lang="en-US" sz="15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chemeClr val="tx1"/>
                    </a:solidFill>
                  </a:tcPr>
                </a:tc>
              </a:tr>
              <a:tr h="502920">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Nubes</a:t>
                      </a:r>
                      <a:endParaRPr lang="en-US" sz="15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Niebla</a:t>
                      </a:r>
                      <a:endParaRPr lang="en-US" sz="15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Reflejos</a:t>
                      </a:r>
                      <a:endParaRPr lang="en-US" sz="15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Iluminación intensa / atardecer</a:t>
                      </a:r>
                      <a:endParaRPr lang="en-US" sz="15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Nocturno / luces</a:t>
                      </a:r>
                      <a:endParaRPr lang="en-US" sz="15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rgbClr val="FFFFFF"/>
                    </a:solidFill>
                  </a:tcPr>
                </a:tc>
              </a:tr>
              <a:tr h="502920">
                <a:tc>
                  <a:txBody>
                    <a:bodyPr/>
                    <a:lstStyle/>
                    <a:p>
                      <a:pPr algn="l" indent="0" marL="0">
                        <a:buNone/>
                      </a:pPr>
                      <a:r>
                        <a:rPr lang="en-US" sz="1500" b="1" i="1" dirty="0">
                          <a:solidFill>
                            <a:schemeClr val="tx1"/>
                          </a:solidFill>
                          <a:latin typeface="Calibri" pitchFamily="34" charset="0"/>
                          <a:ea typeface="Calibri" pitchFamily="34" charset="-122"/>
                          <a:cs typeface="Calibri" pitchFamily="34" charset="-120"/>
                        </a:rPr>
                        <a:t>Referencia: test oficial D-Fire</a:t>
                      </a:r>
                      <a:endParaRPr lang="en-US" sz="15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chemeClr val="bg2"/>
                    </a:solidFill>
                  </a:tcPr>
                </a:tc>
                <a:tc>
                  <a:txBody>
                    <a:bodyPr/>
                    <a:lstStyle/>
                    <a:p>
                      <a:pPr algn="ctr" indent="0" marL="0">
                        <a:buNone/>
                      </a:pPr>
                      <a:r>
                        <a:rPr lang="en-US" sz="1500" b="1" i="1" dirty="0">
                          <a:solidFill>
                            <a:schemeClr val="tx1"/>
                          </a:solidFill>
                          <a:latin typeface="Calibri" pitchFamily="34" charset="0"/>
                          <a:ea typeface="Calibri" pitchFamily="34" charset="-122"/>
                          <a:cs typeface="Calibri" pitchFamily="34" charset="-120"/>
                        </a:rPr>
                        <a:t>2.005</a:t>
                      </a:r>
                      <a:endParaRPr lang="en-US" sz="15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chemeClr val="bg2"/>
                    </a:solidFill>
                  </a:tcPr>
                </a:tc>
                <a:tc>
                  <a:txBody>
                    <a:bodyPr/>
                    <a:lstStyle/>
                    <a:p>
                      <a:pPr algn="ctr" indent="0" marL="0">
                        <a:buNone/>
                      </a:pPr>
                      <a:r>
                        <a:rPr lang="en-US" sz="1500" b="1" i="1" dirty="0">
                          <a:solidFill>
                            <a:schemeClr val="tx1"/>
                          </a:solidFill>
                          <a:latin typeface="Calibri" pitchFamily="34" charset="0"/>
                          <a:ea typeface="Calibri" pitchFamily="34" charset="-122"/>
                          <a:cs typeface="Calibri" pitchFamily="34" charset="-120"/>
                        </a:rPr>
                        <a:t>0,65 %</a:t>
                      </a:r>
                      <a:endParaRPr lang="en-US" sz="15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chemeClr val="bg2"/>
                    </a:solidFill>
                  </a:tcPr>
                </a:tc>
                <a:tc>
                  <a:txBody>
                    <a:bodyPr/>
                    <a:lstStyle/>
                    <a:p>
                      <a:pPr algn="ctr" indent="0" marL="0">
                        <a:buNone/>
                      </a:pPr>
                      <a:r>
                        <a:rPr lang="en-US" sz="1500" b="1" i="1" dirty="0">
                          <a:solidFill>
                            <a:schemeClr val="tx1"/>
                          </a:solidFill>
                          <a:latin typeface="Calibri" pitchFamily="34" charset="0"/>
                          <a:ea typeface="Calibri" pitchFamily="34" charset="-122"/>
                          <a:cs typeface="Calibri" pitchFamily="34" charset="-120"/>
                        </a:rPr>
                        <a:t>0,10 %</a:t>
                      </a:r>
                      <a:endParaRPr lang="en-US" sz="1500" dirty="0">
                        <a:latin typeface="Calibri" charset="0"/>
                        <a:ea typeface="Calibri" charset="0"/>
                        <a:cs typeface="Calibri" charset="0"/>
                      </a:endParaRPr>
                    </a:p>
                  </a:txBody>
                  <a:tcPr marL="91440" marR="91440" marT="45720" marB="45720">
                    <a:lnL w="6350" cap="flat" cmpd="sng" algn="ctr">
                      <a:solidFill>
                        <a:srgbClr val="E7E5E4"/>
                      </a:solidFill>
                      <a:prstDash val="solid"/>
                      <a:round/>
                      <a:headEnd type="none" w="med" len="med"/>
                      <a:tailEnd type="none" w="med" len="med"/>
                    </a:lnL>
                    <a:lnR w="6350" cap="flat" cmpd="sng" algn="ctr">
                      <a:solidFill>
                        <a:srgbClr val="E7E5E4"/>
                      </a:solidFill>
                      <a:prstDash val="solid"/>
                      <a:round/>
                      <a:headEnd type="none" w="med" len="med"/>
                      <a:tailEnd type="none" w="med" len="med"/>
                    </a:lnR>
                    <a:lnT w="6350" cap="flat" cmpd="sng" algn="ctr">
                      <a:solidFill>
                        <a:srgbClr val="E7E5E4"/>
                      </a:solidFill>
                      <a:prstDash val="solid"/>
                      <a:round/>
                      <a:headEnd type="none" w="med" len="med"/>
                      <a:tailEnd type="none" w="med" len="med"/>
                    </a:lnT>
                    <a:lnB w="6350" cap="flat" cmpd="sng" algn="ctr">
                      <a:solidFill>
                        <a:srgbClr val="E7E5E4"/>
                      </a:solidFill>
                      <a:prstDash val="solid"/>
                      <a:round/>
                      <a:headEnd type="none" w="med" len="med"/>
                      <a:tailEnd type="none" w="med" len="med"/>
                    </a:lnB>
                    <a:solidFill>
                      <a:schemeClr val="bg2"/>
                    </a:solidFill>
                  </a:tcPr>
                </a:tc>
              </a:tr>
            </a:tbl>
          </a:graphicData>
        </a:graphic>
      </p:graphicFrame>
      <p:sp>
        <p:nvSpPr>
          <p:cNvPr id="6" name="Tarjeta estrés"/>
          <p:cNvSpPr/>
          <p:nvPr/>
        </p:nvSpPr>
        <p:spPr>
          <a:xfrm>
            <a:off x="8138160" y="1463040"/>
            <a:ext cx="3474720" cy="3520440"/>
          </a:xfrm>
          <a:prstGeom prst="roundRect">
            <a:avLst>
              <a:gd name="adj" fmla="val 2105"/>
            </a:avLst>
          </a:prstGeom>
          <a:solidFill>
            <a:schemeClr val="bg2"/>
          </a:solidFill>
          <a:ln/>
        </p:spPr>
      </p:sp>
      <p:sp>
        <p:nvSpPr>
          <p:cNvPr id="7" name="Estrés círculo"/>
          <p:cNvSpPr/>
          <p:nvPr/>
        </p:nvSpPr>
        <p:spPr>
          <a:xfrm>
            <a:off x="8412480" y="1737360"/>
            <a:ext cx="685800" cy="685800"/>
          </a:xfrm>
          <a:prstGeom prst="ellipse">
            <a:avLst/>
          </a:prstGeom>
          <a:solidFill>
            <a:schemeClr val="accent2"/>
          </a:solidFill>
          <a:ln/>
        </p:spPr>
      </p:sp>
      <p:pic>
        <p:nvPicPr>
          <p:cNvPr id="8" name="Estrés ícono" descr="preencoded.png">    </p:cNvPr>
          <p:cNvPicPr>
            <a:picLocks noChangeAspect="1"/>
          </p:cNvPicPr>
          <p:nvPr/>
        </p:nvPicPr>
        <p:blipFill>
          <a:blip r:embed="rId1"/>
          <a:stretch>
            <a:fillRect/>
          </a:stretch>
        </p:blipFill>
        <p:spPr>
          <a:xfrm>
            <a:off x="8583930" y="1908810"/>
            <a:ext cx="342900" cy="342900"/>
          </a:xfrm>
          <a:prstGeom prst="rect">
            <a:avLst/>
          </a:prstGeom>
        </p:spPr>
      </p:pic>
      <p:sp>
        <p:nvSpPr>
          <p:cNvPr id="9" name="Text 5"/>
          <p:cNvSpPr txBox="1"/>
          <p:nvPr/>
        </p:nvSpPr>
        <p:spPr>
          <a:xfrm>
            <a:off x="8412480" y="2606040"/>
            <a:ext cx="2926080" cy="365760"/>
          </a:xfrm>
          <a:prstGeom prst="rect">
            <a:avLst/>
          </a:prstGeom>
          <a:noFill/>
          <a:ln/>
        </p:spPr>
        <p:txBody>
          <a:bodyPr wrap="square" lIns="0" tIns="0" rIns="0" bIns="0" rtlCol="0" anchor="t"/>
          <a:lstStyle/>
          <a:p>
            <a:pPr indent="0" marL="0">
              <a:buNone/>
            </a:pPr>
            <a:r>
              <a:rPr lang="en-US" sz="1700" b="1" dirty="0">
                <a:solidFill>
                  <a:schemeClr val="tx1"/>
                </a:solidFill>
              </a:rPr>
              <a:t>Por qué importa</a:t>
            </a:r>
            <a:endParaRPr lang="en-US" sz="1700" dirty="0"/>
          </a:p>
        </p:txBody>
      </p:sp>
      <p:sp>
        <p:nvSpPr>
          <p:cNvPr id="10" name="Text 6"/>
          <p:cNvSpPr txBox="1"/>
          <p:nvPr/>
        </p:nvSpPr>
        <p:spPr>
          <a:xfrm>
            <a:off x="8412480" y="3017520"/>
            <a:ext cx="2926080" cy="1828800"/>
          </a:xfrm>
          <a:prstGeom prst="rect">
            <a:avLst/>
          </a:prstGeom>
          <a:noFill/>
          <a:ln/>
        </p:spPr>
        <p:txBody>
          <a:bodyPr wrap="square" lIns="0" tIns="0" rIns="0" bIns="0" rtlCol="0" anchor="t"/>
          <a:lstStyle/>
          <a:p>
            <a:pPr indent="0" marL="0">
              <a:buNone/>
            </a:pPr>
            <a:r>
              <a:rPr lang="en-US" sz="1400" dirty="0">
                <a:solidFill>
                  <a:schemeClr val="tx2"/>
                </a:solidFill>
              </a:rPr>
              <a:t>En el test oficial R1 casi no se equivoca porque vio negativas casi idénticas. El beneficio real del clasificador se mide acá.</a:t>
            </a:r>
            <a:endParaRPr lang="en-US" sz="1400" dirty="0"/>
          </a:p>
        </p:txBody>
      </p:sp>
      <p:sp>
        <p:nvSpPr>
          <p:cNvPr id="11" name="Text 7"/>
          <p:cNvSpPr txBox="1"/>
          <p:nvPr/>
        </p:nvSpPr>
        <p:spPr>
          <a:xfrm>
            <a:off x="548640" y="5257800"/>
            <a:ext cx="11064240" cy="365760"/>
          </a:xfrm>
          <a:prstGeom prst="rect">
            <a:avLst/>
          </a:prstGeom>
          <a:noFill/>
          <a:ln/>
        </p:spPr>
        <p:txBody>
          <a:bodyPr wrap="square" lIns="0" tIns="0" rIns="0" bIns="0" rtlCol="0" anchor="t"/>
          <a:lstStyle/>
          <a:p>
            <a:pPr indent="0" marL="0">
              <a:buNone/>
            </a:pPr>
            <a:r>
              <a:rPr lang="en-US" sz="1300" i="1" dirty="0">
                <a:solidFill>
                  <a:schemeClr val="tx2"/>
                </a:solidFill>
              </a:rPr>
              <a:t>Imágenes en data/estres/&lt;categoría&gt;/ → analisis_errores.ipynb, sección 7</a:t>
            </a:r>
            <a:endParaRPr lang="en-US" sz="13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8716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Interfaz web para operar el sistema en vivo</a:t>
            </a:r>
            <a:endParaRPr lang="en-US" sz="3000" dirty="0"/>
          </a:p>
        </p:txBody>
      </p:sp>
      <p:sp>
        <p:nvSpPr>
          <p:cNvPr id="3" name="Etiqueta PENDIENTE"/>
          <p:cNvSpPr/>
          <p:nvPr/>
        </p:nvSpPr>
        <p:spPr>
          <a:xfrm>
            <a:off x="10149840" y="548640"/>
            <a:ext cx="1463040" cy="384048"/>
          </a:xfrm>
          <a:prstGeom prst="roundRect">
            <a:avLst>
              <a:gd name="adj" fmla="val 50000"/>
            </a:avLst>
          </a:prstGeom>
          <a:solidFill>
            <a:schemeClr val="accent3"/>
          </a:solidFill>
          <a:ln/>
        </p:spPr>
      </p:sp>
      <p:sp>
        <p:nvSpPr>
          <p:cNvPr id="4" name="Texto etiqueta PENDIENTE"/>
          <p:cNvSpPr txBox="1"/>
          <p:nvPr/>
        </p:nvSpPr>
        <p:spPr>
          <a:xfrm>
            <a:off x="10149840" y="548640"/>
            <a:ext cx="1463040" cy="384048"/>
          </a:xfrm>
          <a:prstGeom prst="rect">
            <a:avLst/>
          </a:prstGeom>
          <a:noFill/>
          <a:ln/>
        </p:spPr>
        <p:txBody>
          <a:bodyPr wrap="square" lIns="0" tIns="0" rIns="0" bIns="0" rtlCol="0" anchor="ctr"/>
          <a:lstStyle/>
          <a:p>
            <a:pPr algn="ctr" indent="0" marL="0">
              <a:buNone/>
            </a:pPr>
            <a:r>
              <a:rPr lang="en-US" sz="1200" b="1" dirty="0">
                <a:solidFill>
                  <a:schemeClr val="bg1"/>
                </a:solidFill>
              </a:rPr>
              <a:t>PENDIENTE</a:t>
            </a:r>
            <a:endParaRPr lang="en-US" sz="1200" dirty="0"/>
          </a:p>
        </p:txBody>
      </p:sp>
      <p:sp>
        <p:nvSpPr>
          <p:cNvPr id="5" name="Tarjeta Hecho · demo.py"/>
          <p:cNvSpPr/>
          <p:nvPr/>
        </p:nvSpPr>
        <p:spPr>
          <a:xfrm>
            <a:off x="548640" y="1417320"/>
            <a:ext cx="5440680" cy="3108960"/>
          </a:xfrm>
          <a:prstGeom prst="roundRect">
            <a:avLst>
              <a:gd name="adj" fmla="val 2353"/>
            </a:avLst>
          </a:prstGeom>
          <a:solidFill>
            <a:schemeClr val="bg2"/>
          </a:solidFill>
          <a:ln/>
        </p:spPr>
      </p:sp>
      <p:sp>
        <p:nvSpPr>
          <p:cNvPr id="6" name="Hecho · demo.py círculo"/>
          <p:cNvSpPr/>
          <p:nvPr/>
        </p:nvSpPr>
        <p:spPr>
          <a:xfrm>
            <a:off x="822960" y="1691640"/>
            <a:ext cx="640080" cy="640080"/>
          </a:xfrm>
          <a:prstGeom prst="ellipse">
            <a:avLst/>
          </a:prstGeom>
          <a:solidFill>
            <a:schemeClr val="accent4"/>
          </a:solidFill>
          <a:ln/>
        </p:spPr>
      </p:sp>
      <p:pic>
        <p:nvPicPr>
          <p:cNvPr id="7" name="Hecho · demo.py ícono" descr="preencoded.png">    </p:cNvPr>
          <p:cNvPicPr>
            <a:picLocks noChangeAspect="1"/>
          </p:cNvPicPr>
          <p:nvPr/>
        </p:nvPicPr>
        <p:blipFill>
          <a:blip r:embed="rId1"/>
          <a:stretch>
            <a:fillRect/>
          </a:stretch>
        </p:blipFill>
        <p:spPr>
          <a:xfrm>
            <a:off x="982980" y="1851660"/>
            <a:ext cx="320040" cy="320040"/>
          </a:xfrm>
          <a:prstGeom prst="rect">
            <a:avLst/>
          </a:prstGeom>
        </p:spPr>
      </p:pic>
      <p:sp>
        <p:nvSpPr>
          <p:cNvPr id="8" name="Text 5"/>
          <p:cNvSpPr txBox="1"/>
          <p:nvPr/>
        </p:nvSpPr>
        <p:spPr>
          <a:xfrm>
            <a:off x="1645920" y="1783080"/>
            <a:ext cx="4114800" cy="457200"/>
          </a:xfrm>
          <a:prstGeom prst="rect">
            <a:avLst/>
          </a:prstGeom>
          <a:noFill/>
          <a:ln/>
        </p:spPr>
        <p:txBody>
          <a:bodyPr wrap="square" lIns="0" tIns="0" rIns="0" bIns="0" rtlCol="0" anchor="ctr"/>
          <a:lstStyle/>
          <a:p>
            <a:pPr indent="0" marL="0">
              <a:buNone/>
            </a:pPr>
            <a:r>
              <a:rPr lang="en-US" sz="1900" b="1" dirty="0">
                <a:solidFill>
                  <a:schemeClr val="tx1"/>
                </a:solidFill>
              </a:rPr>
              <a:t>Hecho · demo.py</a:t>
            </a:r>
            <a:endParaRPr lang="en-US" sz="1900" dirty="0"/>
          </a:p>
        </p:txBody>
      </p:sp>
      <p:sp>
        <p:nvSpPr>
          <p:cNvPr id="9" name="Text 6"/>
          <p:cNvSpPr txBox="1"/>
          <p:nvPr/>
        </p:nvSpPr>
        <p:spPr>
          <a:xfrm>
            <a:off x="914400" y="2651760"/>
            <a:ext cx="4754880"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2"/>
                </a:solidFill>
              </a:rPr>
              <a:t>Video → MP4 anotado con HUD</a:t>
            </a:r>
            <a:endParaRPr lang="en-US" sz="1500" dirty="0"/>
          </a:p>
          <a:p>
            <a:pPr marL="342900" indent="-342900">
              <a:spcAft>
                <a:spcPts val="800"/>
              </a:spcAft>
              <a:buSzPct val="100000"/>
              <a:buChar char="•"/>
            </a:pPr>
            <a:r>
              <a:rPr lang="en-US" sz="1600" dirty="0">
                <a:solidFill>
                  <a:schemeClr val="tx2"/>
                </a:solidFill>
              </a:rPr>
              <a:t>Cajas descartadas por el clasificador en gris punteado</a:t>
            </a:r>
            <a:endParaRPr lang="en-US" sz="1500" dirty="0"/>
          </a:p>
          <a:p>
            <a:pPr marL="342900" indent="-342900">
              <a:spcAft>
                <a:spcPts val="800"/>
              </a:spcAft>
              <a:buSzPct val="100000"/>
              <a:buChar char="•"/>
            </a:pPr>
            <a:r>
              <a:rPr lang="en-US" sz="1600" dirty="0">
                <a:solidFill>
                  <a:schemeClr val="tx2"/>
                </a:solidFill>
              </a:rPr>
              <a:t>Contador K/N por clase, estado y ms/frame</a:t>
            </a:r>
            <a:endParaRPr lang="en-US" sz="1500" dirty="0"/>
          </a:p>
          <a:p>
            <a:pPr marL="342900" indent="-342900">
              <a:spcAft>
                <a:spcPts val="800"/>
              </a:spcAft>
              <a:buSzPct val="100000"/>
              <a:buChar char="•"/>
            </a:pPr>
            <a:r>
              <a:rPr lang="en-US" sz="1600" dirty="0">
                <a:solidFill>
                  <a:schemeClr val="tx2"/>
                </a:solidFill>
              </a:rPr>
              <a:t>Log de eventos con timestamp y CSV de alertas</a:t>
            </a:r>
            <a:endParaRPr lang="en-US" sz="1500" dirty="0"/>
          </a:p>
        </p:txBody>
      </p:sp>
      <p:sp>
        <p:nvSpPr>
          <p:cNvPr id="10" name="Tarjeta Planificado · app Gradio"/>
          <p:cNvSpPr/>
          <p:nvPr/>
        </p:nvSpPr>
        <p:spPr>
          <a:xfrm>
            <a:off x="6172200" y="1417320"/>
            <a:ext cx="5440680" cy="3108960"/>
          </a:xfrm>
          <a:prstGeom prst="roundRect">
            <a:avLst>
              <a:gd name="adj" fmla="val 2353"/>
            </a:avLst>
          </a:prstGeom>
          <a:solidFill>
            <a:schemeClr val="bg2"/>
          </a:solidFill>
          <a:ln/>
        </p:spPr>
      </p:sp>
      <p:sp>
        <p:nvSpPr>
          <p:cNvPr id="11" name="Planificado · app Gradio círculo"/>
          <p:cNvSpPr/>
          <p:nvPr/>
        </p:nvSpPr>
        <p:spPr>
          <a:xfrm>
            <a:off x="6446520" y="1691640"/>
            <a:ext cx="640080" cy="640080"/>
          </a:xfrm>
          <a:prstGeom prst="ellipse">
            <a:avLst/>
          </a:prstGeom>
          <a:solidFill>
            <a:schemeClr val="accent3"/>
          </a:solidFill>
          <a:ln/>
        </p:spPr>
      </p:sp>
      <p:pic>
        <p:nvPicPr>
          <p:cNvPr id="12" name="Planificado · app Gradio ícono" descr="preencoded.png">    </p:cNvPr>
          <p:cNvPicPr>
            <a:picLocks noChangeAspect="1"/>
          </p:cNvPicPr>
          <p:nvPr/>
        </p:nvPicPr>
        <p:blipFill>
          <a:blip r:embed="rId2"/>
          <a:stretch>
            <a:fillRect/>
          </a:stretch>
        </p:blipFill>
        <p:spPr>
          <a:xfrm>
            <a:off x="6606540" y="1851660"/>
            <a:ext cx="320040" cy="320040"/>
          </a:xfrm>
          <a:prstGeom prst="rect">
            <a:avLst/>
          </a:prstGeom>
        </p:spPr>
      </p:pic>
      <p:sp>
        <p:nvSpPr>
          <p:cNvPr id="13" name="Text 9"/>
          <p:cNvSpPr txBox="1"/>
          <p:nvPr/>
        </p:nvSpPr>
        <p:spPr>
          <a:xfrm>
            <a:off x="7269480" y="1783080"/>
            <a:ext cx="4114800" cy="457200"/>
          </a:xfrm>
          <a:prstGeom prst="rect">
            <a:avLst/>
          </a:prstGeom>
          <a:noFill/>
          <a:ln/>
        </p:spPr>
        <p:txBody>
          <a:bodyPr wrap="square" lIns="0" tIns="0" rIns="0" bIns="0" rtlCol="0" anchor="ctr"/>
          <a:lstStyle/>
          <a:p>
            <a:pPr indent="0" marL="0">
              <a:buNone/>
            </a:pPr>
            <a:r>
              <a:rPr lang="en-US" sz="1900" b="1" dirty="0">
                <a:solidFill>
                  <a:schemeClr val="tx1"/>
                </a:solidFill>
              </a:rPr>
              <a:t>Planificado · app Gradio</a:t>
            </a:r>
            <a:endParaRPr lang="en-US" sz="1900" dirty="0"/>
          </a:p>
        </p:txBody>
      </p:sp>
      <p:sp>
        <p:nvSpPr>
          <p:cNvPr id="14" name="Text 10"/>
          <p:cNvSpPr txBox="1"/>
          <p:nvPr/>
        </p:nvSpPr>
        <p:spPr>
          <a:xfrm>
            <a:off x="6537960" y="2651760"/>
            <a:ext cx="4754880"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2"/>
                </a:solidFill>
              </a:rPr>
              <a:t>Entrada desde webcam o cámara IP</a:t>
            </a:r>
            <a:endParaRPr lang="en-US" sz="1500" dirty="0"/>
          </a:p>
          <a:p>
            <a:pPr marL="342900" indent="-342900">
              <a:spcAft>
                <a:spcPts val="800"/>
              </a:spcAft>
              <a:buSzPct val="100000"/>
              <a:buChar char="•"/>
            </a:pPr>
            <a:r>
              <a:rPr lang="en-US" sz="1600" dirty="0">
                <a:solidFill>
                  <a:schemeClr val="tx2"/>
                </a:solidFill>
              </a:rPr>
              <a:t>Controles de τ, K, N y umbral del clasificador</a:t>
            </a:r>
            <a:endParaRPr lang="en-US" sz="1500" dirty="0"/>
          </a:p>
          <a:p>
            <a:pPr marL="342900" indent="-342900">
              <a:spcAft>
                <a:spcPts val="800"/>
              </a:spcAft>
              <a:buSzPct val="100000"/>
              <a:buChar char="•"/>
            </a:pPr>
            <a:r>
              <a:rPr lang="en-US" sz="1600" dirty="0">
                <a:solidFill>
                  <a:schemeClr val="tx2"/>
                </a:solidFill>
              </a:rPr>
              <a:t>Latencia instantánea en pantalla</a:t>
            </a:r>
            <a:endParaRPr lang="en-US" sz="1500" dirty="0"/>
          </a:p>
          <a:p>
            <a:pPr marL="342900" indent="-342900">
              <a:spcAft>
                <a:spcPts val="800"/>
              </a:spcAft>
              <a:buSzPct val="100000"/>
              <a:buChar char="•"/>
            </a:pPr>
            <a:r>
              <a:rPr lang="en-US" sz="1600" dirty="0">
                <a:solidFill>
                  <a:schemeClr val="tx2"/>
                </a:solidFill>
              </a:rPr>
              <a:t>Notificación externa de la alerta (opcional)</a:t>
            </a:r>
            <a:endParaRPr lang="en-US" sz="1500" dirty="0"/>
          </a:p>
        </p:txBody>
      </p:sp>
      <p:sp>
        <p:nvSpPr>
          <p:cNvPr id="15" name="Text 11"/>
          <p:cNvSpPr txBox="1"/>
          <p:nvPr/>
        </p:nvSpPr>
        <p:spPr>
          <a:xfrm>
            <a:off x="548640" y="4846320"/>
            <a:ext cx="11064240" cy="822960"/>
          </a:xfrm>
          <a:prstGeom prst="rect">
            <a:avLst/>
          </a:prstGeom>
          <a:noFill/>
          <a:ln/>
        </p:spPr>
        <p:txBody>
          <a:bodyPr wrap="square" lIns="0" tIns="0" rIns="0" bIns="0" rtlCol="0" anchor="t"/>
          <a:lstStyle/>
          <a:p>
            <a:pPr indent="0" marL="0">
              <a:buNone/>
            </a:pPr>
            <a:r>
              <a:rPr lang="en-US" sz="1600" b="1" dirty="0">
                <a:solidFill>
                  <a:schemeClr val="tx1"/>
                </a:solidFill>
              </a:rPr>
              <a:t>Base ya disponible: </a:t>
            </a:r>
            <a:pPr indent="0" marL="0">
              <a:buNone/>
            </a:pPr>
            <a:r>
              <a:rPr lang="en-US" sz="1600" dirty="0">
                <a:solidFill>
                  <a:schemeClr val="tx2"/>
                </a:solidFill>
              </a:rPr>
              <a:t>la clase Sistema de demo.py (detector + clasificador + K-de-N) y gradio en requirements.txt. La app solo tiene que envolverla.</a:t>
            </a:r>
            <a:endParaRPr lang="en-US" sz="16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8716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377440"/>
            <a:ext cx="10515600" cy="1188720"/>
          </a:xfrm>
          <a:prstGeom prst="rect">
            <a:avLst/>
          </a:prstGeom>
          <a:noFill/>
          <a:ln/>
        </p:spPr>
        <p:txBody>
          <a:bodyPr wrap="square" lIns="0" tIns="0" rIns="0" bIns="0" rtlCol="0" anchor="b"/>
          <a:lstStyle/>
          <a:p>
            <a:pPr algn="l" indent="0" marL="0">
              <a:buNone/>
            </a:pPr>
            <a:r>
              <a:rPr lang="en-US" sz="4400" b="1" dirty="0">
                <a:solidFill>
                  <a:schemeClr val="bg1"/>
                </a:solidFill>
              </a:rPr>
              <a:t>Demo en video</a:t>
            </a:r>
            <a:endParaRPr lang="en-US" sz="4400" dirty="0"/>
          </a:p>
        </p:txBody>
      </p:sp>
      <p:sp>
        <p:nvSpPr>
          <p:cNvPr id="3" name="Text 0"/>
          <p:cNvSpPr/>
          <p:nvPr>
            <p:ph idx="101" type="body" hasCustomPrompt="1"/>
          </p:nvPr>
        </p:nvSpPr>
        <p:spPr>
          <a:xfrm>
            <a:off x="822960" y="3749040"/>
            <a:ext cx="10515600" cy="1097280"/>
          </a:xfrm>
          <a:prstGeom prst="rect">
            <a:avLst/>
          </a:prstGeom>
          <a:noFill/>
          <a:ln/>
        </p:spPr>
        <p:txBody>
          <a:bodyPr wrap="square" lIns="0" tIns="0" rIns="0" bIns="0" rtlCol="0" anchor="t"/>
          <a:lstStyle/>
          <a:p>
            <a:pPr indent="0" marL="0">
              <a:buNone/>
            </a:pPr>
            <a:r>
              <a:rPr lang="en-US" sz="2000" dirty="0">
                <a:solidFill>
                  <a:srgbClr val="D6D3D1"/>
                </a:solidFill>
              </a:rPr>
              <a:t>Máximo 2 minutos, narrado en vivo · generado con demo.py · [insertar video acá]</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bg1"/>
                </a:solidFill>
              </a:rPr>
              <a:t>Conclusiones</a:t>
            </a:r>
            <a:endParaRPr lang="en-US" sz="3000" dirty="0"/>
          </a:p>
        </p:txBody>
      </p:sp>
      <p:sp>
        <p:nvSpPr>
          <p:cNvPr id="3" name="Conclusión 1"/>
          <p:cNvSpPr/>
          <p:nvPr/>
        </p:nvSpPr>
        <p:spPr>
          <a:xfrm>
            <a:off x="548640" y="1417320"/>
            <a:ext cx="3520440" cy="2148840"/>
          </a:xfrm>
          <a:prstGeom prst="roundRect">
            <a:avLst>
              <a:gd name="adj" fmla="val 3404"/>
            </a:avLst>
          </a:prstGeom>
          <a:solidFill>
            <a:srgbClr val="2E2926"/>
          </a:solidFill>
          <a:ln/>
        </p:spPr>
      </p:sp>
      <p:sp>
        <p:nvSpPr>
          <p:cNvPr id="4" name="Text 2"/>
          <p:cNvSpPr txBox="1"/>
          <p:nvPr/>
        </p:nvSpPr>
        <p:spPr>
          <a:xfrm>
            <a:off x="822960" y="1645920"/>
            <a:ext cx="54864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1</a:t>
            </a:r>
            <a:endParaRPr lang="en-US" sz="3000" dirty="0"/>
          </a:p>
        </p:txBody>
      </p:sp>
      <p:sp>
        <p:nvSpPr>
          <p:cNvPr id="5" name="Text 3"/>
          <p:cNvSpPr txBox="1"/>
          <p:nvPr/>
        </p:nvSpPr>
        <p:spPr>
          <a:xfrm>
            <a:off x="822960" y="2240280"/>
            <a:ext cx="3017520" cy="640080"/>
          </a:xfrm>
          <a:prstGeom prst="rect">
            <a:avLst/>
          </a:prstGeom>
          <a:noFill/>
          <a:ln/>
        </p:spPr>
        <p:txBody>
          <a:bodyPr wrap="square" lIns="0" tIns="0" rIns="0" bIns="0" rtlCol="0" anchor="t"/>
          <a:lstStyle/>
          <a:p>
            <a:pPr indent="0" marL="0">
              <a:buNone/>
            </a:pPr>
            <a:r>
              <a:rPr lang="en-US" sz="1600" b="1" dirty="0">
                <a:solidFill>
                  <a:schemeClr val="bg1"/>
                </a:solidFill>
              </a:rPr>
              <a:t>Negativas, la decisión de datos clave</a:t>
            </a:r>
            <a:endParaRPr lang="en-US" sz="1600" dirty="0"/>
          </a:p>
        </p:txBody>
      </p:sp>
      <p:sp>
        <p:nvSpPr>
          <p:cNvPr id="6" name="Text 4"/>
          <p:cNvSpPr txBox="1"/>
          <p:nvPr/>
        </p:nvSpPr>
        <p:spPr>
          <a:xfrm>
            <a:off x="822960" y="2834640"/>
            <a:ext cx="3017520" cy="640080"/>
          </a:xfrm>
          <a:prstGeom prst="rect">
            <a:avLst/>
          </a:prstGeom>
          <a:noFill/>
          <a:ln/>
        </p:spPr>
        <p:txBody>
          <a:bodyPr wrap="square" lIns="0" tIns="0" rIns="0" bIns="0" rtlCol="0" anchor="t"/>
          <a:lstStyle/>
          <a:p>
            <a:pPr indent="0" marL="0">
              <a:buNone/>
            </a:pPr>
            <a:r>
              <a:rPr lang="en-US" sz="1400" dirty="0">
                <a:solidFill>
                  <a:srgbClr val="D6D3D1"/>
                </a:solidFill>
              </a:rPr>
              <a:t>44× menos imágenes sin incendio con FP, sin perder recall</a:t>
            </a:r>
            <a:endParaRPr lang="en-US" sz="1400" dirty="0"/>
          </a:p>
        </p:txBody>
      </p:sp>
      <p:sp>
        <p:nvSpPr>
          <p:cNvPr id="7" name="Conclusión 2"/>
          <p:cNvSpPr/>
          <p:nvPr/>
        </p:nvSpPr>
        <p:spPr>
          <a:xfrm>
            <a:off x="4343400" y="1417320"/>
            <a:ext cx="3520440" cy="2148840"/>
          </a:xfrm>
          <a:prstGeom prst="roundRect">
            <a:avLst>
              <a:gd name="adj" fmla="val 3404"/>
            </a:avLst>
          </a:prstGeom>
          <a:solidFill>
            <a:srgbClr val="2E2926"/>
          </a:solidFill>
          <a:ln/>
        </p:spPr>
      </p:sp>
      <p:sp>
        <p:nvSpPr>
          <p:cNvPr id="8" name="Text 6"/>
          <p:cNvSpPr txBox="1"/>
          <p:nvPr/>
        </p:nvSpPr>
        <p:spPr>
          <a:xfrm>
            <a:off x="4617720" y="1645920"/>
            <a:ext cx="54864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2</a:t>
            </a:r>
            <a:endParaRPr lang="en-US" sz="3000" dirty="0"/>
          </a:p>
        </p:txBody>
      </p:sp>
      <p:sp>
        <p:nvSpPr>
          <p:cNvPr id="9" name="Text 7"/>
          <p:cNvSpPr txBox="1"/>
          <p:nvPr/>
        </p:nvSpPr>
        <p:spPr>
          <a:xfrm>
            <a:off x="4617720" y="2240280"/>
            <a:ext cx="3017520" cy="640080"/>
          </a:xfrm>
          <a:prstGeom prst="rect">
            <a:avLst/>
          </a:prstGeom>
          <a:noFill/>
          <a:ln/>
        </p:spPr>
        <p:txBody>
          <a:bodyPr wrap="square" lIns="0" tIns="0" rIns="0" bIns="0" rtlCol="0" anchor="t"/>
          <a:lstStyle/>
          <a:p>
            <a:pPr indent="0" marL="0">
              <a:buNone/>
            </a:pPr>
            <a:r>
              <a:rPr lang="en-US" sz="1600" b="1" dirty="0">
                <a:solidFill>
                  <a:schemeClr val="bg1"/>
                </a:solidFill>
              </a:rPr>
              <a:t>Nano es el equilibrio para CPU</a:t>
            </a:r>
            <a:endParaRPr lang="en-US" sz="1600" dirty="0"/>
          </a:p>
        </p:txBody>
      </p:sp>
      <p:sp>
        <p:nvSpPr>
          <p:cNvPr id="10" name="Text 8"/>
          <p:cNvSpPr txBox="1"/>
          <p:nvPr/>
        </p:nvSpPr>
        <p:spPr>
          <a:xfrm>
            <a:off x="4617720" y="2834640"/>
            <a:ext cx="3017520" cy="640080"/>
          </a:xfrm>
          <a:prstGeom prst="rect">
            <a:avLst/>
          </a:prstGeom>
          <a:noFill/>
          <a:ln/>
        </p:spPr>
        <p:txBody>
          <a:bodyPr wrap="square" lIns="0" tIns="0" rIns="0" bIns="0" rtlCol="0" anchor="t"/>
          <a:lstStyle/>
          <a:p>
            <a:pPr indent="0" marL="0">
              <a:buNone/>
            </a:pPr>
            <a:r>
              <a:rPr lang="en-US" sz="1400" dirty="0">
                <a:solidFill>
                  <a:srgbClr val="D6D3D1"/>
                </a:solidFill>
              </a:rPr>
              <a:t>Medium gana 0,020 de mAP50 con 5,3× la latencia</a:t>
            </a:r>
            <a:endParaRPr lang="en-US" sz="1400" dirty="0"/>
          </a:p>
        </p:txBody>
      </p:sp>
      <p:sp>
        <p:nvSpPr>
          <p:cNvPr id="11" name="Conclusión 3"/>
          <p:cNvSpPr/>
          <p:nvPr/>
        </p:nvSpPr>
        <p:spPr>
          <a:xfrm>
            <a:off x="8138160" y="1417320"/>
            <a:ext cx="3520440" cy="2148840"/>
          </a:xfrm>
          <a:prstGeom prst="roundRect">
            <a:avLst>
              <a:gd name="adj" fmla="val 3404"/>
            </a:avLst>
          </a:prstGeom>
          <a:solidFill>
            <a:srgbClr val="2E2926"/>
          </a:solidFill>
          <a:ln/>
        </p:spPr>
      </p:sp>
      <p:sp>
        <p:nvSpPr>
          <p:cNvPr id="12" name="Text 10"/>
          <p:cNvSpPr txBox="1"/>
          <p:nvPr/>
        </p:nvSpPr>
        <p:spPr>
          <a:xfrm>
            <a:off x="8412480" y="1645920"/>
            <a:ext cx="54864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3</a:t>
            </a:r>
            <a:endParaRPr lang="en-US" sz="3000" dirty="0"/>
          </a:p>
        </p:txBody>
      </p:sp>
      <p:sp>
        <p:nvSpPr>
          <p:cNvPr id="13" name="Text 11"/>
          <p:cNvSpPr txBox="1"/>
          <p:nvPr/>
        </p:nvSpPr>
        <p:spPr>
          <a:xfrm>
            <a:off x="8412480" y="2240280"/>
            <a:ext cx="3017520" cy="640080"/>
          </a:xfrm>
          <a:prstGeom prst="rect">
            <a:avLst/>
          </a:prstGeom>
          <a:noFill/>
          <a:ln/>
        </p:spPr>
        <p:txBody>
          <a:bodyPr wrap="square" lIns="0" tIns="0" rIns="0" bIns="0" rtlCol="0" anchor="t"/>
          <a:lstStyle/>
          <a:p>
            <a:pPr indent="0" marL="0">
              <a:buNone/>
            </a:pPr>
            <a:r>
              <a:rPr lang="en-US" sz="1600" b="1" dirty="0">
                <a:solidFill>
                  <a:schemeClr val="bg1"/>
                </a:solidFill>
              </a:rPr>
              <a:t>El fuego chico es el cuello de botella</a:t>
            </a:r>
            <a:endParaRPr lang="en-US" sz="1600" dirty="0"/>
          </a:p>
        </p:txBody>
      </p:sp>
      <p:sp>
        <p:nvSpPr>
          <p:cNvPr id="14" name="Text 12"/>
          <p:cNvSpPr txBox="1"/>
          <p:nvPr/>
        </p:nvSpPr>
        <p:spPr>
          <a:xfrm>
            <a:off x="8412480" y="2834640"/>
            <a:ext cx="3017520" cy="640080"/>
          </a:xfrm>
          <a:prstGeom prst="rect">
            <a:avLst/>
          </a:prstGeom>
          <a:noFill/>
          <a:ln/>
        </p:spPr>
        <p:txBody>
          <a:bodyPr wrap="square" lIns="0" tIns="0" rIns="0" bIns="0" rtlCol="0" anchor="t"/>
          <a:lstStyle/>
          <a:p>
            <a:pPr indent="0" marL="0">
              <a:buNone/>
            </a:pPr>
            <a:r>
              <a:rPr lang="en-US" sz="1400" dirty="0">
                <a:solidFill>
                  <a:srgbClr val="D6D3D1"/>
                </a:solidFill>
              </a:rPr>
              <a:t>960 px suma 3,4 pts y el recall sigue &lt; 0,45</a:t>
            </a:r>
            <a:endParaRPr lang="en-US" sz="1400" dirty="0"/>
          </a:p>
        </p:txBody>
      </p:sp>
      <p:sp>
        <p:nvSpPr>
          <p:cNvPr id="15" name="Conclusión 4"/>
          <p:cNvSpPr/>
          <p:nvPr/>
        </p:nvSpPr>
        <p:spPr>
          <a:xfrm>
            <a:off x="548640" y="3794760"/>
            <a:ext cx="3520440" cy="2148840"/>
          </a:xfrm>
          <a:prstGeom prst="roundRect">
            <a:avLst>
              <a:gd name="adj" fmla="val 3404"/>
            </a:avLst>
          </a:prstGeom>
          <a:solidFill>
            <a:srgbClr val="2E2926"/>
          </a:solidFill>
          <a:ln/>
        </p:spPr>
      </p:sp>
      <p:sp>
        <p:nvSpPr>
          <p:cNvPr id="16" name="Text 14"/>
          <p:cNvSpPr txBox="1"/>
          <p:nvPr/>
        </p:nvSpPr>
        <p:spPr>
          <a:xfrm>
            <a:off x="822960" y="4023360"/>
            <a:ext cx="54864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4</a:t>
            </a:r>
            <a:endParaRPr lang="en-US" sz="3000" dirty="0"/>
          </a:p>
        </p:txBody>
      </p:sp>
      <p:sp>
        <p:nvSpPr>
          <p:cNvPr id="17" name="Text 15"/>
          <p:cNvSpPr txBox="1"/>
          <p:nvPr/>
        </p:nvSpPr>
        <p:spPr>
          <a:xfrm>
            <a:off x="822960" y="4617720"/>
            <a:ext cx="3017520" cy="640080"/>
          </a:xfrm>
          <a:prstGeom prst="rect">
            <a:avLst/>
          </a:prstGeom>
          <a:noFill/>
          <a:ln/>
        </p:spPr>
        <p:txBody>
          <a:bodyPr wrap="square" lIns="0" tIns="0" rIns="0" bIns="0" rtlCol="0" anchor="t"/>
          <a:lstStyle/>
          <a:p>
            <a:pPr indent="0" marL="0">
              <a:buNone/>
            </a:pPr>
            <a:r>
              <a:rPr lang="en-US" sz="1600" b="1" dirty="0">
                <a:solidFill>
                  <a:schemeClr val="bg1"/>
                </a:solidFill>
              </a:rPr>
              <a:t>Clasificador: filtro barato y ajustable</a:t>
            </a:r>
            <a:endParaRPr lang="en-US" sz="1600" dirty="0"/>
          </a:p>
        </p:txBody>
      </p:sp>
      <p:sp>
        <p:nvSpPr>
          <p:cNvPr id="18" name="Text 16"/>
          <p:cNvSpPr txBox="1"/>
          <p:nvPr/>
        </p:nvSpPr>
        <p:spPr>
          <a:xfrm>
            <a:off x="822960" y="5212080"/>
            <a:ext cx="3017520" cy="640080"/>
          </a:xfrm>
          <a:prstGeom prst="rect">
            <a:avLst/>
          </a:prstGeom>
          <a:noFill/>
          <a:ln/>
        </p:spPr>
        <p:txBody>
          <a:bodyPr wrap="square" lIns="0" tIns="0" rIns="0" bIns="0" rtlCol="0" anchor="t"/>
          <a:lstStyle/>
          <a:p>
            <a:pPr indent="0" marL="0">
              <a:buNone/>
            </a:pPr>
            <a:r>
              <a:rPr lang="en-US" sz="1400" dirty="0">
                <a:solidFill>
                  <a:srgbClr val="D6D3D1"/>
                </a:solidFill>
              </a:rPr>
              <a:t>+12 % de latencia, 7× menos FP, −4,5 pts en humo</a:t>
            </a:r>
            <a:endParaRPr lang="en-US" sz="1400" dirty="0"/>
          </a:p>
        </p:txBody>
      </p:sp>
      <p:sp>
        <p:nvSpPr>
          <p:cNvPr id="19" name="Conclusión 5"/>
          <p:cNvSpPr/>
          <p:nvPr/>
        </p:nvSpPr>
        <p:spPr>
          <a:xfrm>
            <a:off x="4343400" y="3794760"/>
            <a:ext cx="3520440" cy="2148840"/>
          </a:xfrm>
          <a:prstGeom prst="roundRect">
            <a:avLst>
              <a:gd name="adj" fmla="val 3404"/>
            </a:avLst>
          </a:prstGeom>
          <a:solidFill>
            <a:srgbClr val="2E2926"/>
          </a:solidFill>
          <a:ln/>
        </p:spPr>
      </p:sp>
      <p:sp>
        <p:nvSpPr>
          <p:cNvPr id="20" name="Text 18"/>
          <p:cNvSpPr txBox="1"/>
          <p:nvPr/>
        </p:nvSpPr>
        <p:spPr>
          <a:xfrm>
            <a:off x="4617720" y="4023360"/>
            <a:ext cx="54864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5</a:t>
            </a:r>
            <a:endParaRPr lang="en-US" sz="3000" dirty="0"/>
          </a:p>
        </p:txBody>
      </p:sp>
      <p:sp>
        <p:nvSpPr>
          <p:cNvPr id="21" name="Text 19"/>
          <p:cNvSpPr txBox="1"/>
          <p:nvPr/>
        </p:nvSpPr>
        <p:spPr>
          <a:xfrm>
            <a:off x="4617720" y="4617720"/>
            <a:ext cx="3017520" cy="640080"/>
          </a:xfrm>
          <a:prstGeom prst="rect">
            <a:avLst/>
          </a:prstGeom>
          <a:noFill/>
          <a:ln/>
        </p:spPr>
        <p:txBody>
          <a:bodyPr wrap="square" lIns="0" tIns="0" rIns="0" bIns="0" rtlCol="0" anchor="t"/>
          <a:lstStyle/>
          <a:p>
            <a:pPr indent="0" marL="0">
              <a:buNone/>
            </a:pPr>
            <a:r>
              <a:rPr lang="en-US" sz="1600" b="1" dirty="0">
                <a:solidFill>
                  <a:schemeClr val="bg1"/>
                </a:solidFill>
              </a:rPr>
              <a:t>El criterio temporal va en segundos</a:t>
            </a:r>
            <a:endParaRPr lang="en-US" sz="1600" dirty="0"/>
          </a:p>
        </p:txBody>
      </p:sp>
      <p:sp>
        <p:nvSpPr>
          <p:cNvPr id="22" name="Text 20"/>
          <p:cNvSpPr txBox="1"/>
          <p:nvPr/>
        </p:nvSpPr>
        <p:spPr>
          <a:xfrm>
            <a:off x="4617720" y="5212080"/>
            <a:ext cx="3017520" cy="640080"/>
          </a:xfrm>
          <a:prstGeom prst="rect">
            <a:avLst/>
          </a:prstGeom>
          <a:noFill/>
          <a:ln/>
        </p:spPr>
        <p:txBody>
          <a:bodyPr wrap="square" lIns="0" tIns="0" rIns="0" bIns="0" rtlCol="0" anchor="t"/>
          <a:lstStyle/>
          <a:p>
            <a:pPr indent="0" marL="0">
              <a:buNone/>
            </a:pPr>
            <a:r>
              <a:rPr lang="en-US" sz="1400" dirty="0">
                <a:solidFill>
                  <a:srgbClr val="D6D3D1"/>
                </a:solidFill>
              </a:rPr>
              <a:t>A 50 fps una ventana de 5 frames no filtra nada</a:t>
            </a:r>
            <a:endParaRPr lang="en-US" sz="1400" dirty="0"/>
          </a:p>
        </p:txBody>
      </p:sp>
      <p:sp>
        <p:nvSpPr>
          <p:cNvPr id="23" name="Conclusión 6"/>
          <p:cNvSpPr/>
          <p:nvPr/>
        </p:nvSpPr>
        <p:spPr>
          <a:xfrm>
            <a:off x="8138160" y="3794760"/>
            <a:ext cx="3520440" cy="2148840"/>
          </a:xfrm>
          <a:prstGeom prst="roundRect">
            <a:avLst>
              <a:gd name="adj" fmla="val 3404"/>
            </a:avLst>
          </a:prstGeom>
          <a:solidFill>
            <a:srgbClr val="2E2926"/>
          </a:solidFill>
          <a:ln/>
        </p:spPr>
      </p:sp>
      <p:sp>
        <p:nvSpPr>
          <p:cNvPr id="24" name="Text 22"/>
          <p:cNvSpPr txBox="1"/>
          <p:nvPr/>
        </p:nvSpPr>
        <p:spPr>
          <a:xfrm>
            <a:off x="8412480" y="4023360"/>
            <a:ext cx="54864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6</a:t>
            </a:r>
            <a:endParaRPr lang="en-US" sz="3000" dirty="0"/>
          </a:p>
        </p:txBody>
      </p:sp>
      <p:sp>
        <p:nvSpPr>
          <p:cNvPr id="25" name="Text 23"/>
          <p:cNvSpPr txBox="1"/>
          <p:nvPr/>
        </p:nvSpPr>
        <p:spPr>
          <a:xfrm>
            <a:off x="8412480" y="4617720"/>
            <a:ext cx="3017520" cy="640080"/>
          </a:xfrm>
          <a:prstGeom prst="rect">
            <a:avLst/>
          </a:prstGeom>
          <a:noFill/>
          <a:ln/>
        </p:spPr>
        <p:txBody>
          <a:bodyPr wrap="square" lIns="0" tIns="0" rIns="0" bIns="0" rtlCol="0" anchor="t"/>
          <a:lstStyle/>
          <a:p>
            <a:pPr indent="0" marL="0">
              <a:buNone/>
            </a:pPr>
            <a:r>
              <a:rPr lang="en-US" sz="1600" b="1" dirty="0">
                <a:solidFill>
                  <a:schemeClr val="bg1"/>
                </a:solidFill>
              </a:rPr>
              <a:t>El test oficial de D-Fire es optimista</a:t>
            </a:r>
            <a:endParaRPr lang="en-US" sz="1600" dirty="0"/>
          </a:p>
        </p:txBody>
      </p:sp>
      <p:sp>
        <p:nvSpPr>
          <p:cNvPr id="26" name="Text 24"/>
          <p:cNvSpPr txBox="1"/>
          <p:nvPr/>
        </p:nvSpPr>
        <p:spPr>
          <a:xfrm>
            <a:off x="8412480" y="5212080"/>
            <a:ext cx="3017520" cy="640080"/>
          </a:xfrm>
          <a:prstGeom prst="rect">
            <a:avLst/>
          </a:prstGeom>
          <a:noFill/>
          <a:ln/>
        </p:spPr>
        <p:txBody>
          <a:bodyPr wrap="square" lIns="0" tIns="0" rIns="0" bIns="0" rtlCol="0" anchor="t"/>
          <a:lstStyle/>
          <a:p>
            <a:pPr indent="0" marL="0">
              <a:buNone/>
            </a:pPr>
            <a:r>
              <a:rPr lang="en-US" sz="1400" dirty="0">
                <a:solidFill>
                  <a:srgbClr val="D6D3D1"/>
                </a:solidFill>
              </a:rPr>
              <a:t>49,9 % con casi-duplicado: separar por escena</a:t>
            </a:r>
            <a:endParaRPr lang="en-US" sz="14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29E"/>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377440"/>
            <a:ext cx="10515600" cy="1188720"/>
          </a:xfrm>
          <a:prstGeom prst="rect">
            <a:avLst/>
          </a:prstGeom>
          <a:noFill/>
          <a:ln/>
        </p:spPr>
        <p:txBody>
          <a:bodyPr wrap="square" lIns="0" tIns="0" rIns="0" bIns="0" rtlCol="0" anchor="b"/>
          <a:lstStyle/>
          <a:p>
            <a:pPr algn="l" indent="0" marL="0">
              <a:buNone/>
            </a:pPr>
            <a:r>
              <a:rPr lang="en-US" sz="4400" b="1" dirty="0">
                <a:solidFill>
                  <a:schemeClr val="bg1"/>
                </a:solidFill>
              </a:rPr>
              <a:t>¡Gracias! ¿Preguntas?</a:t>
            </a:r>
            <a:endParaRPr lang="en-US" sz="4400" dirty="0"/>
          </a:p>
        </p:txBody>
      </p:sp>
      <p:sp>
        <p:nvSpPr>
          <p:cNvPr id="3" name="Text 0"/>
          <p:cNvSpPr/>
          <p:nvPr>
            <p:ph idx="101" type="body" hasCustomPrompt="1"/>
          </p:nvPr>
        </p:nvSpPr>
        <p:spPr>
          <a:xfrm>
            <a:off x="822960" y="3749040"/>
            <a:ext cx="10515600" cy="1097280"/>
          </a:xfrm>
          <a:prstGeom prst="rect">
            <a:avLst/>
          </a:prstGeom>
          <a:noFill/>
          <a:ln/>
        </p:spPr>
        <p:txBody>
          <a:bodyPr wrap="square" lIns="0" tIns="0" rIns="0" bIns="0" rtlCol="0" anchor="t"/>
          <a:lstStyle/>
          <a:p>
            <a:pPr indent="0" marL="0">
              <a:buNone/>
            </a:pPr>
            <a:r>
              <a:rPr lang="en-US" sz="2000" dirty="0">
                <a:solidFill>
                  <a:srgbClr val="D6D3D1"/>
                </a:solidFill>
              </a:rPr>
              <a:t>github.com/AndreTati/deteccion_incendios</a:t>
            </a:r>
            <a:endParaRPr lang="en-US" sz="2000" dirty="0"/>
          </a:p>
        </p:txBody>
      </p:sp>
    </p:spTree>
  </p:cSld>
  <p:clrMapOvr>
    <a:masterClrMapping/>
  </p:clrMapOvr>
</p:sld>
</file>

<file path=ppt/theme/theme1.xml><?xml version="1.0" encoding="utf-8"?>
<a:theme xmlns:a="http://schemas.openxmlformats.org/drawingml/2006/main" name="Brasa">
  <a:themeElements>
    <a:clrScheme name="Brasa">
      <a:dk1>
        <a:srgbClr val="1C1917"/>
      </a:dk1>
      <a:lt1>
        <a:srgbClr val="FFFFFF"/>
      </a:lt1>
      <a:dk2>
        <a:srgbClr val="44403C"/>
      </a:dk2>
      <a:lt2>
        <a:srgbClr val="F3F4F6"/>
      </a:lt2>
      <a:accent1>
        <a:srgbClr val="E8590C"/>
      </a:accent1>
      <a:accent2>
        <a:srgbClr val="3B82B6"/>
      </a:accent2>
      <a:accent3>
        <a:srgbClr val="D97706"/>
      </a:accent3>
      <a:accent4>
        <a:srgbClr val="2F855A"/>
      </a:accent4>
      <a:accent5>
        <a:srgbClr val="78716C"/>
      </a:accent5>
      <a:accent6>
        <a:srgbClr val="B91C1C"/>
      </a:accent6>
      <a:hlink>
        <a:srgbClr val="3B82B6"/>
      </a:hlink>
      <a:folHlink>
        <a:srgbClr val="78716C"/>
      </a:folHlink>
    </a:clrScheme>
    <a:fontScheme name="Bras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Detección temprana de incendios con YOLO11</dc:title>
  <dc:subject>PptxGenJS Presentation</dc:subject>
  <dc:creator>Martín Amagliani, Tatiana Durán, Tomás Frechou</dc:creator>
  <cp:lastModifiedBy>Martín Amagliani, Tatiana Durán, Tomás Frechou</cp:lastModifiedBy>
  <cp:revision>1</cp:revision>
  <dcterms:created xsi:type="dcterms:W3CDTF">2026-10-10T16:19:29Z</dcterms:created>
  <dcterms:modified xsi:type="dcterms:W3CDTF">2026-10-10T16:19:29Z</dcterms:modified>
</cp:coreProperties>
</file>